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a4eba1804894434" /><Relationship Type="http://schemas.openxmlformats.org/officeDocument/2006/relationships/extended-properties" Target="/docProps/app.xml" Id="R8fd44be0053d45ba" /><Relationship Type="http://schemas.openxmlformats.org/officeDocument/2006/relationships/officeDocument" Target="/ppt/presentation.xml" Id="Rab4aa7db891e48fb" /></Relationships>
</file>

<file path=ppt/presentation.xml><?xml version="1.0" encoding="utf-8"?>
<p:presentation xmlns:p="http://schemas.openxmlformats.org/presentationml/2006/main">
  <p:sldMasterIdLst>
    <p:sldMasterId xmlns:r="http://schemas.openxmlformats.org/officeDocument/2006/relationships" id="2147483648" r:id="R191c5912a6424b48"/>
  </p:sldMasterIdLst>
  <p:notesMasterIdLst>
    <p:notesMasterId xmlns:r="http://schemas.openxmlformats.org/officeDocument/2006/relationships" r:id="R63a373604cdf490a"/>
  </p:notesMasterIdLst>
  <p:sldIdLst>
    <p:sldId xmlns:r="http://schemas.openxmlformats.org/officeDocument/2006/relationships" id="256" r:id="R5d0c85eed62e49b9"/>
    <p:sldId xmlns:r="http://schemas.openxmlformats.org/officeDocument/2006/relationships" id="257" r:id="Re26fbcea4a5c43b5"/>
    <p:sldId xmlns:r="http://schemas.openxmlformats.org/officeDocument/2006/relationships" id="258" r:id="Ra18502b7bb824345"/>
    <p:sldId xmlns:r="http://schemas.openxmlformats.org/officeDocument/2006/relationships" id="259" r:id="Rd6d0d4b1b7d3430c"/>
    <p:sldId xmlns:r="http://schemas.openxmlformats.org/officeDocument/2006/relationships" id="260" r:id="R922c4053b9814e99"/>
    <p:sldId xmlns:r="http://schemas.openxmlformats.org/officeDocument/2006/relationships" id="261" r:id="Rb25212727c96498c"/>
    <p:sldId xmlns:r="http://schemas.openxmlformats.org/officeDocument/2006/relationships" id="262" r:id="Rb1b4094c6f4f4e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de5659b6374d61" /><Relationship Type="http://schemas.openxmlformats.org/officeDocument/2006/relationships/slideMaster" Target="/ppt/slideMasters/slideMaster1.xml" Id="R191c5912a6424b48" /><Relationship Type="http://schemas.openxmlformats.org/officeDocument/2006/relationships/notesMaster" Target="/ppt/notesMasters/notesMaster1.xml" Id="R63a373604cdf490a" /><Relationship Type="http://schemas.openxmlformats.org/officeDocument/2006/relationships/presProps" Target="/ppt/presProps.xml" Id="Rc6deb3f9861241f5" /><Relationship Type="http://schemas.openxmlformats.org/officeDocument/2006/relationships/tableStyles" Target="/ppt/tableStyles.xml" Id="Rc62ce89372bb4575" /><Relationship Type="http://schemas.openxmlformats.org/officeDocument/2006/relationships/slide" Target="/ppt/slides/slide1.xml" Id="R5d0c85eed62e49b9" /><Relationship Type="http://schemas.openxmlformats.org/officeDocument/2006/relationships/slide" Target="/ppt/slides/slide2.xml" Id="Re26fbcea4a5c43b5" /><Relationship Type="http://schemas.openxmlformats.org/officeDocument/2006/relationships/slide" Target="/ppt/slides/slide3.xml" Id="Ra18502b7bb824345" /><Relationship Type="http://schemas.openxmlformats.org/officeDocument/2006/relationships/slide" Target="/ppt/slides/slide4.xml" Id="Rd6d0d4b1b7d3430c" /><Relationship Type="http://schemas.openxmlformats.org/officeDocument/2006/relationships/slide" Target="/ppt/slides/slide5.xml" Id="R922c4053b9814e99" /><Relationship Type="http://schemas.openxmlformats.org/officeDocument/2006/relationships/slide" Target="/ppt/slides/slide6.xml" Id="Rb25212727c96498c" /><Relationship Type="http://schemas.openxmlformats.org/officeDocument/2006/relationships/slide" Target="/ppt/slides/slide7.xml" Id="Rb1b4094c6f4f4e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167b0acc794d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7c409864eb4888" /><Relationship Type="http://schemas.openxmlformats.org/officeDocument/2006/relationships/notesMaster" Target="/ppt/notesMasters/notesMaster1.xml" Id="R9da87a97ff7b40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087496bf1345a1" /><Relationship Type="http://schemas.openxmlformats.org/officeDocument/2006/relationships/notesMaster" Target="/ppt/notesMasters/notesMaster1.xml" Id="R2a543be49e174d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04f8c5bbaa4027" /><Relationship Type="http://schemas.openxmlformats.org/officeDocument/2006/relationships/notesMaster" Target="/ppt/notesMasters/notesMaster1.xml" Id="Re54a42d171e148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05bfd76b2f4acb" /><Relationship Type="http://schemas.openxmlformats.org/officeDocument/2006/relationships/notesMaster" Target="/ppt/notesMasters/notesMaster1.xml" Id="R6d9a930ea90043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1ca76adabf4993" /><Relationship Type="http://schemas.openxmlformats.org/officeDocument/2006/relationships/notesMaster" Target="/ppt/notesMasters/notesMaster1.xml" Id="Rba00aa3194424e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3a1668055d408f" /><Relationship Type="http://schemas.openxmlformats.org/officeDocument/2006/relationships/notesMaster" Target="/ppt/notesMasters/notesMaster1.xml" Id="Rcae9ebffc3b848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75d1177dc34c0c" /><Relationship Type="http://schemas.openxmlformats.org/officeDocument/2006/relationships/notesMaster" Target="/ppt/notesMasters/notesMaster1.xml" Id="R6d239d7499894f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This project estimates the remaining operational cycles of simulated turbofan engines. I compare a random forest with sensor-based ridge regression and an age-only baseline. The objective is a reproducible engineering comparison, including errors and computational cost. The estimates support a maintenance review in the simulated FD001 setting.</a:t>
            </a:r>
          </a:p>
          <a:p xmlns:a="http://schemas.openxmlformats.org/drawingml/2006/main">
            <a:r>
              <a:t/>
            </a:r>
          </a:p>
          <a:p xmlns:a="http://schemas.openxmlformats.org/drawingml/2006/main">
            <a:r>
              <a:t>Sources: NASA catalog: https://data.nasa.gov/dataset/cmapss-jet-engine-simulated-data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FD001 contains one operating condition and HPC degradation. Each engine has a different initial condition and degradation history. Training histories reach failure, so remaining life is the failure cycle minus the current cycle. Test histories stop early, and their separate RUL file gives the correct endpoint truth. The six channels describe compressor and turbine temperatures, pressures and core speed. I retain the native units and absolute cycle number. A prediction needs at least thirty contiguous observations. Missing data and invalid histories raise errors. The result is remaining cycles, not flight hours or a certified replacement decision.</a:t>
            </a:r>
          </a:p>
          <a:p xmlns:a="http://schemas.openxmlformats.org/drawingml/2006/main">
            <a:r>
              <a:t/>
            </a:r>
          </a:p>
          <a:p xmlns:a="http://schemas.openxmlformats.org/drawingml/2006/main">
            <a:r>
              <a:t>Sources: NASA C-MAPSS supplied README and data manifest; Saxena et al. 2008, https://ntrs.nasa.gov/citations/20090029214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 seconds.</a:t>
            </a:r>
          </a:p>
          <a:p xmlns:a="http://schemas.openxmlformats.org/drawingml/2006/main">
            <a:r>
              <a:t/>
            </a:r>
          </a:p>
          <a:p xmlns:a="http://schemas.openxmlformats.org/drawingml/2006/main">
            <a:r>
              <a:t>For each of six sensors, I use the latest value, trailing mean and least-squares slope, plus age. The slope uses centered local cycle positions, which improves numerical conditioning. Each feature uses only past and present observations. Training samples every fifth cycle and the final cycle, with equal total fitting weight per engine. Five-fold engine cross-validation chooses the window and model settings. The winning forest averages two hundred trees with depth eight and minimum leaf ten. Ridge is an important alternative because these features are correlated and the fleet is small. It standardizes using fitting rows only and solves regularized least squares with SVD. The age-only baseline tests whether the sensors add useful information. The target remains uncapped RUL.</a:t>
            </a:r>
          </a:p>
          <a:p xmlns:a="http://schemas.openxmlformats.org/drawingml/2006/main">
            <a:r>
              <a:t/>
            </a:r>
          </a:p>
          <a:p xmlns:a="http://schemas.openxmlformats.org/drawingml/2006/main">
            <a:r>
              <a:t>Sources: artifacts/selection.json; docs/METHOD.md; sklearn Ridge and RandomForestRegressor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
            </a:r>
          </a:p>
          <a:p xmlns:a="http://schemas.openxmlformats.org/drawingml/2006/main">
            <a:r>
              <a:t>The eighty development engines support tuning. Twenty separate internal holdout engines apply the predeclared selection rule. The forest reduced holdout RMSE by ten point six percent and had a lower NASA score, so selection froze before official testing. All models then refit on the hundred training engines. Thirty-seven pytest checks cover analytic signals, labels, invalid inputs, engine separation, future-data leakage and persistence. An integration test prevents official target parsing during selection. The GitHub repository separates source, tests, data provenance, documentation and saved results. Its README supplies reproduction commands, and pdoc HTML explains the functions. Bootstrap uncertainty resamples entire test engines.</a:t>
            </a:r>
          </a:p>
          <a:p xmlns:a="http://schemas.openxmlformats.org/drawingml/2006/main">
            <a:r>
              <a:t/>
            </a:r>
          </a:p>
          <a:p xmlns:a="http://schemas.openxmlformats.org/drawingml/2006/main">
            <a:r>
              <a:t>Sources: artifacts/splits.json, selection.json and test-results.xml; https://github.com/Shanwei0111/MMA3001Project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a:t>
            </a:r>
          </a:p>
          <a:p xmlns:a="http://schemas.openxmlformats.org/drawingml/2006/main">
            <a:r>
              <a:t/>
            </a:r>
          </a:p>
          <a:p xmlns:a="http://schemas.openxmlformats.org/drawingml/2006/main">
            <a:r>
              <a:t>On the official test set, forest MAE is fourteen point six nine cycles and RMSE is twenty point zero four. Ridge RMSE is twenty-two point two nine, and age-only is thirty-four point eight nine. The selected forest meets the proposed MAE twenty and RMSE twenty-five targets. Its bootstrap RMSE interval is sixteen point three three to twenty-three point five six cycles. However, the paired forest-minus-ridge RMSE interval includes zero, so this fleet does not establish a robust RMSE advantage. There is also a crucial tradeoff: the forest NASA score is worse than ridge, despite lower average error. This score penalizes overestimating life more heavily. The holdout score advantage did not generalize. I retain the frozen choice and disclose the optimistic tail errors instead of choosing again on test outcomes. Metric intervals are not individual-engine confidence bounds.</a:t>
            </a:r>
          </a:p>
          <a:p xmlns:a="http://schemas.openxmlformats.org/drawingml/2006/main">
            <a:r>
              <a:t/>
            </a:r>
          </a:p>
          <a:p xmlns:a="http://schemas.openxmlformats.org/drawingml/2006/main">
            <a:r>
              <a:t>Sources: artifacts/test_metrics.csv and bootstrap_intervals.json; scoring convention: https://ntrs.nasa.gov/api/citations/20090029214/downloads/20090029214.pdf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Vectorization reduces full-training-set feature time from zero point two nine one to zero point one eight three seconds, a one point five nine times speedup. The maximum difference from the reference formula is about one point nine times ten to the minus thirteen. The forest takes about twenty milliseconds from a thirty-observation history to its output on this machine. Ridge has far less arithmetic and storage cost. Its nineteen-feature dot product and scaling each need about thirty-eight FLOPs. Forest traversal instead uses roughly fifteen hundred threshold comparisons, plus two hundred aggregation FLOPs. Those comparisons and irregular memory accesses explain why a FLOP count alone is misleading.</a:t>
            </a:r>
          </a:p>
          <a:p xmlns:a="http://schemas.openxmlformats.org/drawingml/2006/main">
            <a:r>
              <a:t/>
            </a:r>
          </a:p>
          <a:p xmlns:a="http://schemas.openxmlformats.org/drawingml/2006/main">
            <a:r>
              <a:t>Sources: artifacts/performance.json and profiles/features.txt; timings include warm call overhead and exclude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The model supports only the simulated FD001 regime. It does not enforce thermodynamic conservation or provide calibrated uncertainty for an individual engine. Some large optimistic errors remain, and systematic sensor bias can change forecasts. Codex provided substantial assistance in design, code, testing and these materials. Validation identified and corrected an invalid-value test-fixture problem and resolved a conflicting score formula against the NASA source. I must personally review and reproduce the work, add my genuine learning reflection and explain it without AI during the defense.</a:t>
            </a:r>
          </a:p>
          <a:p xmlns:a="http://schemas.openxmlformats.org/drawingml/2006/main">
            <a:r>
              <a:t/>
            </a:r>
          </a:p>
          <a:p xmlns:a="http://schemas.openxmlformats.org/drawingml/2006/main">
            <a:r>
              <a:t>Sources: docs/AI_USE.md; supplied MMA3001 project brief, AI use and individual-defense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7999abbf1443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1711eea76e4e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0a237a70cd49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aca45dc50d49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9303b3542c45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aedba6334e44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76D59-66EB-4724-BDD2-F939AB2A02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ED719E-D28E-4430-9BB7-14DE4646DA8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EF561F-3AE8-42C4-9D94-99D82226978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BE8F12-E766-463C-A9D2-27DF5A7EC0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DD326C-E619-4CA1-B3BC-3A4DEDFCABC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8A0BD9-8006-4D3A-9CAD-F4C45BB3AA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F0A32A-A7B1-476A-9B9D-B711E04CD7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9399A5-F01C-4CC4-9968-12DBCFD972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F0B487-C777-466D-89B7-A5459021C5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444C19-F6C4-4CE7-9019-A14618B7EA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c80c3f76bd4f1b" /><Relationship Type="http://schemas.openxmlformats.org/officeDocument/2006/relationships/slideLayout" Target="/ppt/slideLayouts/slideLayout1.xml" Id="R85566128e7e3414f" /><Relationship Type="http://schemas.openxmlformats.org/officeDocument/2006/relationships/slideLayout" Target="/ppt/slideLayouts/slideLayout2.xml" Id="R0fe8f8d439d446b9" /><Relationship Type="http://schemas.openxmlformats.org/officeDocument/2006/relationships/slideLayout" Target="/ppt/slideLayouts/slideLayout3.xml" Id="Rae29b3874a2e4a19" /><Relationship Type="http://schemas.openxmlformats.org/officeDocument/2006/relationships/slideLayout" Target="/ppt/slideLayouts/slideLayout4.xml" Id="Rfaca6ee6bfe64a54" /><Relationship Type="http://schemas.openxmlformats.org/officeDocument/2006/relationships/slideLayout" Target="/ppt/slideLayouts/slideLayout5.xml" Id="R5a17d93967334539" /><Relationship Type="http://schemas.openxmlformats.org/officeDocument/2006/relationships/slideLayout" Target="/ppt/slideLayouts/slideLayout6.xml" Id="Rb3758012070f40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566128e7e3414f"/>
    <p:sldLayoutId xmlns:r="http://schemas.openxmlformats.org/officeDocument/2006/relationships" id="2147483650" r:id="R0fe8f8d439d446b9"/>
    <p:sldLayoutId xmlns:r="http://schemas.openxmlformats.org/officeDocument/2006/relationships" id="2147483651" r:id="Rae29b3874a2e4a19"/>
    <p:sldLayoutId xmlns:r="http://schemas.openxmlformats.org/officeDocument/2006/relationships" id="2147483652" r:id="Rfaca6ee6bfe64a54"/>
    <p:sldLayoutId xmlns:r="http://schemas.openxmlformats.org/officeDocument/2006/relationships" id="2147483653" r:id="R5a17d93967334539"/>
    <p:sldLayoutId xmlns:r="http://schemas.openxmlformats.org/officeDocument/2006/relationships" id="2147483654" r:id="Rb3758012070f40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e18ae90ade440b" /><Relationship Type="http://schemas.openxmlformats.org/officeDocument/2006/relationships/notesSlide" Target="/ppt/notesSlides/notesSlide1.xml" Id="R59ec65eff27d45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3c63c89f6f43ac" /><Relationship Type="http://schemas.openxmlformats.org/officeDocument/2006/relationships/notesSlide" Target="/ppt/notesSlides/notesSlide2.xml" Id="R5e275a8e51604d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5bb6a6d7c04d7c" /><Relationship Type="http://schemas.openxmlformats.org/officeDocument/2006/relationships/notesSlide" Target="/ppt/notesSlides/notesSlide3.xml" Id="Rf4e85517f6094d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d4ff8b11f6429a" /><Relationship Type="http://schemas.openxmlformats.org/officeDocument/2006/relationships/notesSlide" Target="/ppt/notesSlides/notesSlide4.xml" Id="Rd48bf15b367747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9ba63aacf804275" /><Relationship Type="http://schemas.openxmlformats.org/officeDocument/2006/relationships/chart" Target="/ppt/slides/charts/chart1.xml" Id="R64e4e653b6fa46b5" /><Relationship Type="http://schemas.openxmlformats.org/officeDocument/2006/relationships/notesSlide" Target="/ppt/notesSlides/notesSlide5.xml" Id="Re5582d58d7e24a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a77b66220b4499" /><Relationship Type="http://schemas.openxmlformats.org/officeDocument/2006/relationships/chart" Target="/ppt/slides/charts/chart2.xml" Id="R279b71c2f09a4f09" /><Relationship Type="http://schemas.openxmlformats.org/officeDocument/2006/relationships/notesSlide" Target="/ppt/notesSlides/notesSlide6.xml" Id="Ref98c2070b9d47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7ccecf97dca4be8" /><Relationship Type="http://schemas.openxmlformats.org/officeDocument/2006/relationships/notesSlide" Target="/ppt/notesSlides/notesSlide7.xml" Id="Rbb0000f15a5a48f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23345"/>
                </a:solidFill>
                <a:latin typeface="Arial"/>
                <a:ea typeface="Arial"/>
                <a:cs typeface="Arial"/>
              </a:rPr>
              <a:t>Endpoint RMSE</a:t>
            </a:r>
          </a:p>
        </c:rich>
      </c:tx>
      <c:overlay val="0"/>
      <c:txPr>
        <a:bodyPr xmlns:a="http://schemas.openxmlformats.org/drawingml/2006/main" anchorCtr="1"/>
        <a:lstStyle xmlns:a="http://schemas.openxmlformats.org/drawingml/2006/main"/>
        <a:p xmlns:a="http://schemas.openxmlformats.org/drawingml/2006/main">
          <a:pPr>
            <a:defRPr sz="1800" b="1">
              <a:solidFill>
                <a:srgbClr val="223345"/>
              </a:solidFill>
              <a:latin typeface="Arial"/>
              <a:ea typeface="Arial"/>
              <a:cs typeface="Arial"/>
            </a:defRPr>
          </a:pPr>
        </a:p>
      </c:txPr>
    </c:title>
    <c:plotArea>
      <c:barChart>
        <c:barDir val="col"/>
        <c:grouping val="clustered"/>
        <c:varyColors val="0"/>
        <c:ser>
          <c:idx val="0"/>
          <c:order val="0"/>
          <c:tx>
            <c:v>Cycles</c:v>
          </c:tx>
          <c:spPr>
            <a:solidFill xmlns:a="http://schemas.openxmlformats.org/drawingml/2006/main">
              <a:srgbClr val="168575"/>
            </a:solidFill>
          </c:spPr>
          <c:invertIfNegative val="0"/>
          <c:cat>
            <c:strRef>
              <c:f>'Chart Data'!$A$2:$A$4</c:f>
              <c:strCache>
                <c:ptCount val="3"/>
                <c:pt idx="0">
                  <c:v>Age-only</c:v>
                </c:pt>
                <c:pt idx="1">
                  <c:v>Ridge</c:v>
                </c:pt>
                <c:pt idx="2">
                  <c:v>Forest</c:v>
                </c:pt>
              </c:strCache>
            </c:strRef>
          </c:cat>
          <c:val>
            <c:numRef>
              <c:f>'Chart Data'!$B$2:$B$4</c:f>
              <c:numCache>
                <c:formatCode>General</c:formatCode>
                <c:ptCount val="3"/>
                <c:pt idx="0">
                  <c:v>34.88566</c:v>
                </c:pt>
                <c:pt idx="1">
                  <c:v>22.29234</c:v>
                </c:pt>
                <c:pt idx="2">
                  <c:v>20.04264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223345"/>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2334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E5EC"/>
              </a:solidFill>
            </a:ln>
          </c:spPr>
        </c:majorGridlines>
        <c:title>
          <c:tx>
            <c:rich>
              <a:bodyPr xmlns:a="http://schemas.openxmlformats.org/drawingml/2006/main"/>
              <a:lstStyle xmlns:a="http://schemas.openxmlformats.org/drawingml/2006/main"/>
              <a:p xmlns:a="http://schemas.openxmlformats.org/drawingml/2006/main">
                <a:r>
                  <a:rPr sz="1425">
                    <a:latin typeface="Arial"/>
                    <a:ea typeface="Arial"/>
                    <a:cs typeface="Arial"/>
                  </a:rPr>
                  <a:t>Cycles</a:t>
                </a:r>
              </a:p>
            </c:rich>
          </c:tx>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C"/>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23345"/>
                </a:solidFill>
                <a:latin typeface="Arial"/>
                <a:ea typeface="Arial"/>
                <a:cs typeface="Arial"/>
              </a:rPr>
              <a:t>Full training-set feature computation</a:t>
            </a:r>
          </a:p>
        </c:rich>
      </c:tx>
      <c:overlay val="0"/>
      <c:txPr>
        <a:bodyPr xmlns:a="http://schemas.openxmlformats.org/drawingml/2006/main" anchorCtr="1"/>
        <a:lstStyle xmlns:a="http://schemas.openxmlformats.org/drawingml/2006/main"/>
        <a:p xmlns:a="http://schemas.openxmlformats.org/drawingml/2006/main">
          <a:pPr>
            <a:defRPr sz="1800" b="1">
              <a:solidFill>
                <a:srgbClr val="223345"/>
              </a:solidFill>
              <a:latin typeface="Arial"/>
              <a:ea typeface="Arial"/>
              <a:cs typeface="Arial"/>
            </a:defRPr>
          </a:pPr>
        </a:p>
      </c:txPr>
    </c:title>
    <c:plotArea>
      <c:barChart>
        <c:barDir val="col"/>
        <c:grouping val="clustered"/>
        <c:varyColors val="0"/>
        <c:ser>
          <c:idx val="0"/>
          <c:order val="0"/>
          <c:tx>
            <c:v>Seconds</c:v>
          </c:tx>
          <c:spPr>
            <a:solidFill xmlns:a="http://schemas.openxmlformats.org/drawingml/2006/main">
              <a:srgbClr val="2463A6"/>
            </a:solidFill>
          </c:spPr>
          <c:invertIfNegative val="0"/>
          <c:cat>
            <c:strRef>
              <c:f>'Chart Data'!$A$2:$A$3</c:f>
              <c:strCache>
                <c:ptCount val="2"/>
                <c:pt idx="0">
                  <c:v>Reference loop</c:v>
                </c:pt>
                <c:pt idx="1">
                  <c:v>Vectorized</c:v>
                </c:pt>
              </c:strCache>
            </c:strRef>
          </c:cat>
          <c:val>
            <c:numRef>
              <c:f>'Chart Data'!$B$2:$B$3</c:f>
              <c:numCache>
                <c:formatCode>General</c:formatCode>
                <c:ptCount val="2"/>
                <c:pt idx="0">
                  <c:v>0.29138</c:v>
                </c:pt>
                <c:pt idx="1">
                  <c:v>0.1831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223345"/>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23345"/>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E5EC"/>
              </a:solidFill>
            </a:ln>
          </c:spPr>
        </c:majorGridlines>
        <c:title>
          <c:tx>
            <c:rich>
              <a:bodyPr xmlns:a="http://schemas.openxmlformats.org/drawingml/2006/main"/>
              <a:lstStyle xmlns:a="http://schemas.openxmlformats.org/drawingml/2006/main"/>
              <a:p xmlns:a="http://schemas.openxmlformats.org/drawingml/2006/main">
                <a:r>
                  <a:rPr sz="1425">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677C"/>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Jet-engine remaining useful life">
            <a:extLst xmlns:a="http://schemas.openxmlformats.org/drawingml/2006/main">
              <a:ext uri="{FF2B5EF4-FFF2-40B4-BE49-F238E27FC236}">
                <a16:creationId xmlns:a16="http://schemas.microsoft.com/office/drawing/2014/main" id="{F2EAFF0A-5894-4ABE-A2B4-B7396E244103}"/>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Jet-engine remaining useful life</a:t>
            </a:r>
          </a:p>
        </p:txBody>
      </p:sp>
      <p:sp>
        <p:nvSpPr>
          <p:cNvPr id="2" name="MMA3001  /  Chua Shanwei  /  35393343">
            <a:extLst xmlns:a="http://schemas.openxmlformats.org/drawingml/2006/main">
              <a:ext uri="{FF2B5EF4-FFF2-40B4-BE49-F238E27FC236}">
                <a16:creationId xmlns:a16="http://schemas.microsoft.com/office/drawing/2014/main" id="{5D5F097F-CB24-453B-A316-3894F9E13C1E}"/>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3" name="1">
            <a:extLst xmlns:a="http://schemas.openxmlformats.org/drawingml/2006/main">
              <a:ext uri="{FF2B5EF4-FFF2-40B4-BE49-F238E27FC236}">
                <a16:creationId xmlns:a16="http://schemas.microsoft.com/office/drawing/2014/main" id="{142E7DF3-AAD5-4F4A-818D-26AFBEDF136D}"/>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1</a:t>
            </a:r>
          </a:p>
        </p:txBody>
      </p:sp>
      <p:sp>
        <p:nvSpPr>
          <p:cNvPr id="4" name="NASA C-MAPSS FD001">
            <a:extLst xmlns:a="http://schemas.openxmlformats.org/drawingml/2006/main">
              <a:ext uri="{FF2B5EF4-FFF2-40B4-BE49-F238E27FC236}">
                <a16:creationId xmlns:a16="http://schemas.microsoft.com/office/drawing/2014/main" id="{CE9D700F-2501-4CF5-BCC5-4C5F61FBB30C}"/>
              </a:ext>
            </a:extLst>
          </p:cNvPr>
          <p:cNvSpPr>
            <a:spLocks xmlns:a="http://schemas.openxmlformats.org/drawingml/2006/main" noGrp="1"/>
          </p:cNvSpPr>
          <p:nvPr/>
        </p:nvSpPr>
        <p:spPr>
          <a:xfrm xmlns:a="http://schemas.openxmlformats.org/drawingml/2006/main">
            <a:off x="609600" y="20955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68575"/>
                </a:solidFill>
                <a:latin typeface="Arial"/>
                <a:ea typeface="Arial"/>
                <a:cs typeface="Arial"/>
              </a:defRPr>
            </a:defPPr>
          </a:lstStyle>
          <a:p xmlns:a="http://schemas.openxmlformats.org/drawingml/2006/main">
            <a:pPr>
              <a:defRPr sz="2850" b="1">
                <a:solidFill>
                  <a:srgbClr val="168575"/>
                </a:solidFill>
                <a:latin typeface="Arial"/>
                <a:ea typeface="Arial"/>
                <a:cs typeface="Arial"/>
              </a:defRPr>
            </a:pPr>
            <a:r>
              <a:rPr sz="2850" b="1">
                <a:solidFill>
                  <a:srgbClr val="168575"/>
                </a:solidFill>
                <a:latin typeface="Arial"/>
                <a:ea typeface="Arial"/>
                <a:cs typeface="Arial"/>
              </a:rPr>
              <a:t>NASA C-MAPSS FD001</a:t>
            </a:r>
          </a:p>
        </p:txBody>
      </p:sp>
      <p:sp>
        <p:nvSpPr>
          <p:cNvPr id="5" name="A controlled comparison of sensor regres">
            <a:extLst xmlns:a="http://schemas.openxmlformats.org/drawingml/2006/main">
              <a:ext uri="{FF2B5EF4-FFF2-40B4-BE49-F238E27FC236}">
                <a16:creationId xmlns:a16="http://schemas.microsoft.com/office/drawing/2014/main" id="{EA09336D-2127-4F9A-B77C-51A1A2B2779A}"/>
              </a:ext>
            </a:extLst>
          </p:cNvPr>
          <p:cNvSpPr>
            <a:spLocks xmlns:a="http://schemas.openxmlformats.org/drawingml/2006/main" noGrp="1"/>
          </p:cNvSpPr>
          <p:nvPr/>
        </p:nvSpPr>
        <p:spPr>
          <a:xfrm xmlns:a="http://schemas.openxmlformats.org/drawingml/2006/main">
            <a:off x="609600" y="3048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23345"/>
                </a:solidFill>
                <a:latin typeface="Arial"/>
                <a:ea typeface="Arial"/>
                <a:cs typeface="Arial"/>
              </a:defRPr>
            </a:defPPr>
          </a:lstStyle>
          <a:p xmlns:a="http://schemas.openxmlformats.org/drawingml/2006/main">
            <a:pPr>
              <a:defRPr sz="2400" b="0">
                <a:solidFill>
                  <a:srgbClr val="223345"/>
                </a:solidFill>
                <a:latin typeface="Arial"/>
                <a:ea typeface="Arial"/>
                <a:cs typeface="Arial"/>
              </a:defRPr>
            </a:pPr>
            <a:r>
              <a:rPr sz="2400" b="0">
                <a:solidFill>
                  <a:srgbClr val="223345"/>
                </a:solidFill>
                <a:latin typeface="Arial"/>
                <a:ea typeface="Arial"/>
                <a:cs typeface="Arial"/>
              </a:rPr>
              <a:t>A controlled comparison of sensor regression methods</a:t>
            </a:r>
          </a:p>
        </p:txBody>
      </p:sp>
      <p:sp>
        <p:nvSpPr>
          <p:cNvPr id="6" name="Chua Shanwei&#10;35393343">
            <a:extLst xmlns:a="http://schemas.openxmlformats.org/drawingml/2006/main">
              <a:ext uri="{FF2B5EF4-FFF2-40B4-BE49-F238E27FC236}">
                <a16:creationId xmlns:a16="http://schemas.microsoft.com/office/drawing/2014/main" id="{745A349D-285E-4586-810C-F65CB046A795}"/>
              </a:ext>
            </a:extLst>
          </p:cNvPr>
          <p:cNvSpPr>
            <a:spLocks xmlns:a="http://schemas.openxmlformats.org/drawingml/2006/main" noGrp="1"/>
          </p:cNvSpPr>
          <p:nvPr/>
        </p:nvSpPr>
        <p:spPr>
          <a:xfrm xmlns:a="http://schemas.openxmlformats.org/drawingml/2006/main">
            <a:off x="609600" y="4667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4677C"/>
                </a:solidFill>
                <a:latin typeface="Arial"/>
                <a:ea typeface="Arial"/>
                <a:cs typeface="Arial"/>
              </a:defRPr>
            </a:defPPr>
          </a:lstStyle>
          <a:p xmlns:a="http://schemas.openxmlformats.org/drawingml/2006/main">
            <a:pPr>
              <a:defRPr sz="2025" b="0">
                <a:solidFill>
                  <a:srgbClr val="54677C"/>
                </a:solidFill>
                <a:latin typeface="Arial"/>
                <a:ea typeface="Arial"/>
                <a:cs typeface="Arial"/>
              </a:defRPr>
            </a:pPr>
            <a:r>
              <a:rPr sz="2025" b="0">
                <a:solidFill>
                  <a:srgbClr val="54677C"/>
                </a:solidFill>
                <a:latin typeface="Arial"/>
                <a:ea typeface="Arial"/>
                <a:cs typeface="Arial"/>
              </a:rPr>
              <a:t>Chua Shanwei</a:t>
            </a:r>
          </a:p>
          <a:p xmlns:a="http://schemas.openxmlformats.org/drawingml/2006/main">
            <a:pPr>
              <a:defRPr sz="2025" b="0">
                <a:solidFill>
                  <a:srgbClr val="54677C"/>
                </a:solidFill>
                <a:latin typeface="Arial"/>
                <a:ea typeface="Arial"/>
                <a:cs typeface="Arial"/>
              </a:defRPr>
            </a:pPr>
            <a:r>
              <a:rPr sz="2025" b="0">
                <a:solidFill>
                  <a:srgbClr val="54677C"/>
                </a:solidFill>
                <a:latin typeface="Arial"/>
                <a:ea typeface="Arial"/>
                <a:cs typeface="Arial"/>
              </a:rPr>
              <a:t>35393343</a:t>
            </a:r>
          </a:p>
        </p:txBody>
      </p:sp>
    </p:spTree>
    <p:extLst>
      <p:ext uri="{BB962C8B-B14F-4D97-AF65-F5344CB8AC3E}">
        <p14:creationId xmlns:p14="http://schemas.microsoft.com/office/powerpoint/2010/main" val="9828517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ngineering problem and data">
            <a:extLst xmlns:a="http://schemas.openxmlformats.org/drawingml/2006/main">
              <a:ext uri="{FF2B5EF4-FFF2-40B4-BE49-F238E27FC236}">
                <a16:creationId xmlns:a16="http://schemas.microsoft.com/office/drawing/2014/main" id="{58BCA704-1A00-4505-A8EE-E0B1C16672D5}"/>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Engineering problem and data</a:t>
            </a:r>
          </a:p>
        </p:txBody>
      </p:sp>
      <p:sp>
        <p:nvSpPr>
          <p:cNvPr id="2" name="One operating condition and one HPC degr">
            <a:extLst xmlns:a="http://schemas.openxmlformats.org/drawingml/2006/main">
              <a:ext uri="{FF2B5EF4-FFF2-40B4-BE49-F238E27FC236}">
                <a16:creationId xmlns:a16="http://schemas.microsoft.com/office/drawing/2014/main" id="{EB15A532-8E57-44CC-BF8C-CFB667DBFBED}"/>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77C"/>
                </a:solidFill>
                <a:latin typeface="Arial"/>
                <a:ea typeface="Arial"/>
                <a:cs typeface="Arial"/>
              </a:defRPr>
            </a:defPPr>
          </a:lstStyle>
          <a:p xmlns:a="http://schemas.openxmlformats.org/drawingml/2006/main">
            <a:pPr>
              <a:defRPr sz="1800" b="0">
                <a:solidFill>
                  <a:srgbClr val="54677C"/>
                </a:solidFill>
                <a:latin typeface="Arial"/>
                <a:ea typeface="Arial"/>
                <a:cs typeface="Arial"/>
              </a:defRPr>
            </a:pPr>
            <a:r>
              <a:rPr sz="1800" b="0">
                <a:solidFill>
                  <a:srgbClr val="54677C"/>
                </a:solidFill>
                <a:latin typeface="Arial"/>
                <a:ea typeface="Arial"/>
                <a:cs typeface="Arial"/>
              </a:rPr>
              <a:t>One operating condition and one HPC degradation mode</a:t>
            </a:r>
          </a:p>
        </p:txBody>
      </p:sp>
      <p:sp>
        <p:nvSpPr>
          <p:cNvPr id="3" name="MMA3001  /  Chua Shanwei  /  35393343">
            <a:extLst xmlns:a="http://schemas.openxmlformats.org/drawingml/2006/main">
              <a:ext uri="{FF2B5EF4-FFF2-40B4-BE49-F238E27FC236}">
                <a16:creationId xmlns:a16="http://schemas.microsoft.com/office/drawing/2014/main" id="{B470C955-90E3-44AB-B7F0-F58E3683946C}"/>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4" name="2">
            <a:extLst xmlns:a="http://schemas.openxmlformats.org/drawingml/2006/main">
              <a:ext uri="{FF2B5EF4-FFF2-40B4-BE49-F238E27FC236}">
                <a16:creationId xmlns:a16="http://schemas.microsoft.com/office/drawing/2014/main" id="{E2814122-E75B-4021-BA9D-D633619FCCB3}"/>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2</a:t>
            </a:r>
          </a:p>
        </p:txBody>
      </p:sp>
      <p:sp>
        <p:nvSpPr>
          <p:cNvPr id="5" name="100 training engines&#10;20,631 observed cyc">
            <a:extLst xmlns:a="http://schemas.openxmlformats.org/drawingml/2006/main">
              <a:ext uri="{FF2B5EF4-FFF2-40B4-BE49-F238E27FC236}">
                <a16:creationId xmlns:a16="http://schemas.microsoft.com/office/drawing/2014/main" id="{11E27880-3EA6-4E5F-A01B-55E8729BF79E}"/>
              </a:ext>
            </a:extLst>
          </p:cNvPr>
          <p:cNvSpPr>
            <a:spLocks xmlns:a="http://schemas.openxmlformats.org/drawingml/2006/main" noGrp="1"/>
          </p:cNvSpPr>
          <p:nvPr/>
        </p:nvSpPr>
        <p:spPr>
          <a:xfrm xmlns:a="http://schemas.openxmlformats.org/drawingml/2006/main">
            <a:off x="609600" y="219075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68575"/>
                </a:solidFill>
                <a:latin typeface="Arial"/>
                <a:ea typeface="Arial"/>
                <a:cs typeface="Arial"/>
              </a:defRPr>
            </a:defPPr>
          </a:lstStyle>
          <a:p xmlns:a="http://schemas.openxmlformats.org/drawingml/2006/main">
            <a:pPr>
              <a:defRPr sz="2625" b="1">
                <a:solidFill>
                  <a:srgbClr val="168575"/>
                </a:solidFill>
                <a:latin typeface="Arial"/>
                <a:ea typeface="Arial"/>
                <a:cs typeface="Arial"/>
              </a:defRPr>
            </a:pPr>
            <a:r>
              <a:rPr sz="2625" b="1">
                <a:solidFill>
                  <a:srgbClr val="168575"/>
                </a:solidFill>
                <a:latin typeface="Arial"/>
                <a:ea typeface="Arial"/>
                <a:cs typeface="Arial"/>
              </a:rPr>
              <a:t>100 training engines</a:t>
            </a:r>
          </a:p>
          <a:p xmlns:a="http://schemas.openxmlformats.org/drawingml/2006/main">
            <a:pPr>
              <a:defRPr sz="2625" b="1">
                <a:solidFill>
                  <a:srgbClr val="168575"/>
                </a:solidFill>
                <a:latin typeface="Arial"/>
                <a:ea typeface="Arial"/>
                <a:cs typeface="Arial"/>
              </a:defRPr>
            </a:pPr>
            <a:r>
              <a:rPr sz="2625" b="1">
                <a:solidFill>
                  <a:srgbClr val="168575"/>
                </a:solidFill>
                <a:latin typeface="Arial"/>
                <a:ea typeface="Arial"/>
                <a:cs typeface="Arial"/>
              </a:rPr>
              <a:t>20,631 observed cycles</a:t>
            </a:r>
          </a:p>
        </p:txBody>
      </p:sp>
      <p:sp>
        <p:nvSpPr>
          <p:cNvPr id="6" name="100 separate test engines&#10;Censored befor">
            <a:extLst xmlns:a="http://schemas.openxmlformats.org/drawingml/2006/main">
              <a:ext uri="{FF2B5EF4-FFF2-40B4-BE49-F238E27FC236}">
                <a16:creationId xmlns:a16="http://schemas.microsoft.com/office/drawing/2014/main" id="{D014FB15-9A09-4D2C-B647-95A4439E19FD}"/>
              </a:ext>
            </a:extLst>
          </p:cNvPr>
          <p:cNvSpPr>
            <a:spLocks xmlns:a="http://schemas.openxmlformats.org/drawingml/2006/main" noGrp="1"/>
          </p:cNvSpPr>
          <p:nvPr/>
        </p:nvSpPr>
        <p:spPr>
          <a:xfrm xmlns:a="http://schemas.openxmlformats.org/drawingml/2006/main">
            <a:off x="6477000" y="2190750"/>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63A6"/>
                </a:solidFill>
                <a:latin typeface="Arial"/>
                <a:ea typeface="Arial"/>
                <a:cs typeface="Arial"/>
              </a:defRPr>
            </a:defPPr>
          </a:lstStyle>
          <a:p xmlns:a="http://schemas.openxmlformats.org/drawingml/2006/main">
            <a:pPr>
              <a:defRPr sz="2625" b="1">
                <a:solidFill>
                  <a:srgbClr val="2463A6"/>
                </a:solidFill>
                <a:latin typeface="Arial"/>
                <a:ea typeface="Arial"/>
                <a:cs typeface="Arial"/>
              </a:defRPr>
            </a:pPr>
            <a:r>
              <a:rPr sz="2625" b="1">
                <a:solidFill>
                  <a:srgbClr val="2463A6"/>
                </a:solidFill>
                <a:latin typeface="Arial"/>
                <a:ea typeface="Arial"/>
                <a:cs typeface="Arial"/>
              </a:rPr>
              <a:t>100 separate test engines</a:t>
            </a:r>
          </a:p>
          <a:p xmlns:a="http://schemas.openxmlformats.org/drawingml/2006/main">
            <a:pPr>
              <a:defRPr sz="2625" b="1">
                <a:solidFill>
                  <a:srgbClr val="2463A6"/>
                </a:solidFill>
                <a:latin typeface="Arial"/>
                <a:ea typeface="Arial"/>
                <a:cs typeface="Arial"/>
              </a:defRPr>
            </a:pPr>
            <a:r>
              <a:rPr sz="2625" b="1">
                <a:solidFill>
                  <a:srgbClr val="2463A6"/>
                </a:solidFill>
                <a:latin typeface="Arial"/>
                <a:ea typeface="Arial"/>
                <a:cs typeface="Arial"/>
              </a:rPr>
              <a:t>Censored before failure</a:t>
            </a:r>
          </a:p>
        </p:txBody>
      </p:sp>
      <p:sp>
        <p:nvSpPr>
          <p:cNvPr id="7" name="Input: age plus six temperature, pressur">
            <a:extLst xmlns:a="http://schemas.openxmlformats.org/drawingml/2006/main">
              <a:ext uri="{FF2B5EF4-FFF2-40B4-BE49-F238E27FC236}">
                <a16:creationId xmlns:a16="http://schemas.microsoft.com/office/drawing/2014/main" id="{AD941669-A26A-4FD7-87AC-F26C296687E1}"/>
              </a:ext>
            </a:extLst>
          </p:cNvPr>
          <p:cNvSpPr>
            <a:spLocks xmlns:a="http://schemas.openxmlformats.org/drawingml/2006/main" noGrp="1"/>
          </p:cNvSpPr>
          <p:nvPr/>
        </p:nvSpPr>
        <p:spPr>
          <a:xfrm xmlns:a="http://schemas.openxmlformats.org/drawingml/2006/main">
            <a:off x="609600" y="3857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Input: age plus six temperature, pressure and speed channels.</a:t>
            </a:r>
          </a:p>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At least 30 contiguous observations from one engine.</a:t>
            </a:r>
          </a:p>
        </p:txBody>
      </p:sp>
      <p:sp>
        <p:nvSpPr>
          <p:cNvPr id="8" name="Output: remaining cycles, raw estimate a">
            <a:extLst xmlns:a="http://schemas.openxmlformats.org/drawingml/2006/main">
              <a:ext uri="{FF2B5EF4-FFF2-40B4-BE49-F238E27FC236}">
                <a16:creationId xmlns:a16="http://schemas.microsoft.com/office/drawing/2014/main" id="{1B84C3A9-8A29-484C-A235-5BC4814B4FAC}"/>
              </a:ext>
            </a:extLst>
          </p:cNvPr>
          <p:cNvSpPr>
            <a:spLocks xmlns:a="http://schemas.openxmlformats.org/drawingml/2006/main" noGrp="1"/>
          </p:cNvSpPr>
          <p:nvPr/>
        </p:nvSpPr>
        <p:spPr>
          <a:xfrm xmlns:a="http://schemas.openxmlformats.org/drawingml/2006/main">
            <a:off x="609600" y="50958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Output: remaining cycles, raw estimate and input warnings.</a:t>
            </a:r>
          </a:p>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Operational use: maintenance review within the simulated regime.</a:t>
            </a:r>
          </a:p>
        </p:txBody>
      </p:sp>
    </p:spTree>
    <p:extLst>
      <p:ext uri="{BB962C8B-B14F-4D97-AF65-F5344CB8AC3E}">
        <p14:creationId xmlns:p14="http://schemas.microsoft.com/office/powerpoint/2010/main" val="14493284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ausal features and model comparison">
            <a:extLst xmlns:a="http://schemas.openxmlformats.org/drawingml/2006/main">
              <a:ext uri="{FF2B5EF4-FFF2-40B4-BE49-F238E27FC236}">
                <a16:creationId xmlns:a16="http://schemas.microsoft.com/office/drawing/2014/main" id="{DAD4CCE0-EB33-4C16-AF11-452EAB7B2B4A}"/>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Causal features and model comparison</a:t>
            </a:r>
          </a:p>
        </p:txBody>
      </p:sp>
      <p:sp>
        <p:nvSpPr>
          <p:cNvPr id="2" name="No future measurements enter a predictio">
            <a:extLst xmlns:a="http://schemas.openxmlformats.org/drawingml/2006/main">
              <a:ext uri="{FF2B5EF4-FFF2-40B4-BE49-F238E27FC236}">
                <a16:creationId xmlns:a16="http://schemas.microsoft.com/office/drawing/2014/main" id="{FF5BD852-16BD-4AF3-8E03-5976EF41EAC1}"/>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77C"/>
                </a:solidFill>
                <a:latin typeface="Arial"/>
                <a:ea typeface="Arial"/>
                <a:cs typeface="Arial"/>
              </a:defRPr>
            </a:defPPr>
          </a:lstStyle>
          <a:p xmlns:a="http://schemas.openxmlformats.org/drawingml/2006/main">
            <a:pPr>
              <a:defRPr sz="1800" b="0">
                <a:solidFill>
                  <a:srgbClr val="54677C"/>
                </a:solidFill>
                <a:latin typeface="Arial"/>
                <a:ea typeface="Arial"/>
                <a:cs typeface="Arial"/>
              </a:defRPr>
            </a:pPr>
            <a:r>
              <a:rPr sz="1800" b="0">
                <a:solidFill>
                  <a:srgbClr val="54677C"/>
                </a:solidFill>
                <a:latin typeface="Arial"/>
                <a:ea typeface="Arial"/>
                <a:cs typeface="Arial"/>
              </a:rPr>
              <a:t>No future measurements enter a prediction</a:t>
            </a:r>
          </a:p>
        </p:txBody>
      </p:sp>
      <p:sp>
        <p:nvSpPr>
          <p:cNvPr id="3" name="MMA3001  /  Chua Shanwei  /  35393343">
            <a:extLst xmlns:a="http://schemas.openxmlformats.org/drawingml/2006/main">
              <a:ext uri="{FF2B5EF4-FFF2-40B4-BE49-F238E27FC236}">
                <a16:creationId xmlns:a16="http://schemas.microsoft.com/office/drawing/2014/main" id="{8213B808-433E-4D6E-BE7D-7FFBB9F4AC8C}"/>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4" name="3">
            <a:extLst xmlns:a="http://schemas.openxmlformats.org/drawingml/2006/main">
              <a:ext uri="{FF2B5EF4-FFF2-40B4-BE49-F238E27FC236}">
                <a16:creationId xmlns:a16="http://schemas.microsoft.com/office/drawing/2014/main" id="{18AB85ED-930B-4785-BB46-C7E86166AFC3}"/>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3</a:t>
            </a:r>
          </a:p>
        </p:txBody>
      </p:sp>
      <p:sp>
        <p:nvSpPr>
          <p:cNvPr id="5" name="19 predictors">
            <a:extLst xmlns:a="http://schemas.openxmlformats.org/drawingml/2006/main">
              <a:ext uri="{FF2B5EF4-FFF2-40B4-BE49-F238E27FC236}">
                <a16:creationId xmlns:a16="http://schemas.microsoft.com/office/drawing/2014/main" id="{970FCA9D-2EA8-4945-BD44-818EDF379097}"/>
              </a:ext>
            </a:extLst>
          </p:cNvPr>
          <p:cNvSpPr>
            <a:spLocks xmlns:a="http://schemas.openxmlformats.org/drawingml/2006/main" noGrp="1"/>
          </p:cNvSpPr>
          <p:nvPr/>
        </p:nvSpPr>
        <p:spPr>
          <a:xfrm xmlns:a="http://schemas.openxmlformats.org/drawingml/2006/main">
            <a:off x="609600" y="214312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68575"/>
                </a:solidFill>
                <a:latin typeface="Arial"/>
                <a:ea typeface="Arial"/>
                <a:cs typeface="Arial"/>
              </a:defRPr>
            </a:defPPr>
          </a:lstStyle>
          <a:p xmlns:a="http://schemas.openxmlformats.org/drawingml/2006/main">
            <a:pPr>
              <a:defRPr sz="3150" b="1">
                <a:solidFill>
                  <a:srgbClr val="168575"/>
                </a:solidFill>
                <a:latin typeface="Arial"/>
                <a:ea typeface="Arial"/>
                <a:cs typeface="Arial"/>
              </a:defRPr>
            </a:pPr>
            <a:r>
              <a:rPr sz="3150" b="1">
                <a:solidFill>
                  <a:srgbClr val="168575"/>
                </a:solidFill>
                <a:latin typeface="Arial"/>
                <a:ea typeface="Arial"/>
                <a:cs typeface="Arial"/>
              </a:rPr>
              <a:t>19 predictors</a:t>
            </a:r>
          </a:p>
        </p:txBody>
      </p:sp>
      <p:sp>
        <p:nvSpPr>
          <p:cNvPr id="6" name="Age&#10;6 current values&#10;6 trailing means&#10;6 ">
            <a:extLst xmlns:a="http://schemas.openxmlformats.org/drawingml/2006/main">
              <a:ext uri="{FF2B5EF4-FFF2-40B4-BE49-F238E27FC236}">
                <a16:creationId xmlns:a16="http://schemas.microsoft.com/office/drawing/2014/main" id="{C2C9B7A1-0CCB-4D66-B496-35DC0058A43C}"/>
              </a:ext>
            </a:extLst>
          </p:cNvPr>
          <p:cNvSpPr>
            <a:spLocks xmlns:a="http://schemas.openxmlformats.org/drawingml/2006/main" noGrp="1"/>
          </p:cNvSpPr>
          <p:nvPr/>
        </p:nvSpPr>
        <p:spPr>
          <a:xfrm xmlns:a="http://schemas.openxmlformats.org/drawingml/2006/main">
            <a:off x="609600" y="3000375"/>
            <a:ext cx="4238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23345"/>
                </a:solidFill>
                <a:latin typeface="Arial"/>
                <a:ea typeface="Arial"/>
                <a:cs typeface="Arial"/>
              </a:defRPr>
            </a:defPPr>
          </a:lstStyle>
          <a:p xmlns:a="http://schemas.openxmlformats.org/drawingml/2006/main">
            <a:pPr>
              <a:defRPr sz="2250" b="0">
                <a:solidFill>
                  <a:srgbClr val="223345"/>
                </a:solidFill>
                <a:latin typeface="Arial"/>
                <a:ea typeface="Arial"/>
                <a:cs typeface="Arial"/>
              </a:defRPr>
            </a:pPr>
            <a:r>
              <a:rPr sz="2250" b="0">
                <a:solidFill>
                  <a:srgbClr val="223345"/>
                </a:solidFill>
                <a:latin typeface="Arial"/>
                <a:ea typeface="Arial"/>
                <a:cs typeface="Arial"/>
              </a:rPr>
              <a:t>Age</a:t>
            </a:r>
          </a:p>
          <a:p xmlns:a="http://schemas.openxmlformats.org/drawingml/2006/main">
            <a:pPr>
              <a:defRPr sz="2250" b="0">
                <a:solidFill>
                  <a:srgbClr val="223345"/>
                </a:solidFill>
                <a:latin typeface="Arial"/>
                <a:ea typeface="Arial"/>
                <a:cs typeface="Arial"/>
              </a:defRPr>
            </a:pPr>
            <a:r>
              <a:rPr sz="2250" b="0">
                <a:solidFill>
                  <a:srgbClr val="223345"/>
                </a:solidFill>
                <a:latin typeface="Arial"/>
                <a:ea typeface="Arial"/>
                <a:cs typeface="Arial"/>
              </a:rPr>
              <a:t>6 current values</a:t>
            </a:r>
          </a:p>
          <a:p xmlns:a="http://schemas.openxmlformats.org/drawingml/2006/main">
            <a:pPr>
              <a:defRPr sz="2250" b="0">
                <a:solidFill>
                  <a:srgbClr val="223345"/>
                </a:solidFill>
                <a:latin typeface="Arial"/>
                <a:ea typeface="Arial"/>
                <a:cs typeface="Arial"/>
              </a:defRPr>
            </a:pPr>
            <a:r>
              <a:rPr sz="2250" b="0">
                <a:solidFill>
                  <a:srgbClr val="223345"/>
                </a:solidFill>
                <a:latin typeface="Arial"/>
                <a:ea typeface="Arial"/>
                <a:cs typeface="Arial"/>
              </a:rPr>
              <a:t>6 trailing means</a:t>
            </a:r>
          </a:p>
          <a:p xmlns:a="http://schemas.openxmlformats.org/drawingml/2006/main">
            <a:pPr>
              <a:defRPr sz="2250" b="0">
                <a:solidFill>
                  <a:srgbClr val="223345"/>
                </a:solidFill>
                <a:latin typeface="Arial"/>
                <a:ea typeface="Arial"/>
                <a:cs typeface="Arial"/>
              </a:defRPr>
            </a:pPr>
            <a:r>
              <a:rPr sz="2250" b="0">
                <a:solidFill>
                  <a:srgbClr val="223345"/>
                </a:solidFill>
                <a:latin typeface="Arial"/>
                <a:ea typeface="Arial"/>
                <a:cs typeface="Arial"/>
              </a:rPr>
              <a:t>6 trailing slopes</a:t>
            </a:r>
          </a:p>
        </p:txBody>
      </p:sp>
      <p:sp>
        <p:nvSpPr>
          <p:cNvPr id="7" name="Random forest">
            <a:extLst xmlns:a="http://schemas.openxmlformats.org/drawingml/2006/main">
              <a:ext uri="{FF2B5EF4-FFF2-40B4-BE49-F238E27FC236}">
                <a16:creationId xmlns:a16="http://schemas.microsoft.com/office/drawing/2014/main" id="{A5936168-B9AD-4449-A7D7-1F9AF0CC4AC0}"/>
              </a:ext>
            </a:extLst>
          </p:cNvPr>
          <p:cNvSpPr>
            <a:spLocks xmlns:a="http://schemas.openxmlformats.org/drawingml/2006/main" noGrp="1"/>
          </p:cNvSpPr>
          <p:nvPr/>
        </p:nvSpPr>
        <p:spPr>
          <a:xfrm xmlns:a="http://schemas.openxmlformats.org/drawingml/2006/main">
            <a:off x="5715000" y="214312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23345"/>
                </a:solidFill>
                <a:latin typeface="Arial"/>
                <a:ea typeface="Arial"/>
                <a:cs typeface="Arial"/>
              </a:defRPr>
            </a:defPPr>
          </a:lstStyle>
          <a:p xmlns:a="http://schemas.openxmlformats.org/drawingml/2006/main">
            <a:pPr>
              <a:defRPr sz="2550" b="1">
                <a:solidFill>
                  <a:srgbClr val="223345"/>
                </a:solidFill>
                <a:latin typeface="Arial"/>
                <a:ea typeface="Arial"/>
                <a:cs typeface="Arial"/>
              </a:defRPr>
            </a:pPr>
            <a:r>
              <a:rPr sz="2550" b="1">
                <a:solidFill>
                  <a:srgbClr val="223345"/>
                </a:solidFill>
                <a:latin typeface="Arial"/>
                <a:ea typeface="Arial"/>
                <a:cs typeface="Arial"/>
              </a:rPr>
              <a:t>Random forest</a:t>
            </a:r>
          </a:p>
        </p:txBody>
      </p:sp>
      <p:sp>
        <p:nvSpPr>
          <p:cNvPr id="8" name="200 trees, depth 8, minimum leaf 10&#10;30-c">
            <a:extLst xmlns:a="http://schemas.openxmlformats.org/drawingml/2006/main">
              <a:ext uri="{FF2B5EF4-FFF2-40B4-BE49-F238E27FC236}">
                <a16:creationId xmlns:a16="http://schemas.microsoft.com/office/drawing/2014/main" id="{36A1DD89-AF61-4BB1-AE0B-B4BDD5076D4E}"/>
              </a:ext>
            </a:extLst>
          </p:cNvPr>
          <p:cNvSpPr>
            <a:spLocks xmlns:a="http://schemas.openxmlformats.org/drawingml/2006/main" noGrp="1"/>
          </p:cNvSpPr>
          <p:nvPr/>
        </p:nvSpPr>
        <p:spPr>
          <a:xfrm xmlns:a="http://schemas.openxmlformats.org/drawingml/2006/main">
            <a:off x="5715000" y="276225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23345"/>
                </a:solidFill>
                <a:latin typeface="Arial"/>
                <a:ea typeface="Arial"/>
                <a:cs typeface="Arial"/>
              </a:defRPr>
            </a:defPPr>
          </a:lstStyle>
          <a:p xmlns:a="http://schemas.openxmlformats.org/drawingml/2006/main">
            <a:pPr>
              <a:defRPr sz="2025" b="0">
                <a:solidFill>
                  <a:srgbClr val="223345"/>
                </a:solidFill>
                <a:latin typeface="Arial"/>
                <a:ea typeface="Arial"/>
                <a:cs typeface="Arial"/>
              </a:defRPr>
            </a:pPr>
            <a:r>
              <a:rPr sz="2025" b="0">
                <a:solidFill>
                  <a:srgbClr val="223345"/>
                </a:solidFill>
                <a:latin typeface="Arial"/>
                <a:ea typeface="Arial"/>
                <a:cs typeface="Arial"/>
              </a:rPr>
              <a:t>200 trees, depth 8, minimum leaf 10</a:t>
            </a:r>
          </a:p>
          <a:p xmlns:a="http://schemas.openxmlformats.org/drawingml/2006/main">
            <a:pPr>
              <a:defRPr sz="2025" b="0">
                <a:solidFill>
                  <a:srgbClr val="223345"/>
                </a:solidFill>
                <a:latin typeface="Arial"/>
                <a:ea typeface="Arial"/>
                <a:cs typeface="Arial"/>
              </a:defRPr>
            </a:pPr>
            <a:r>
              <a:rPr sz="2025" b="0">
                <a:solidFill>
                  <a:srgbClr val="223345"/>
                </a:solidFill>
                <a:latin typeface="Arial"/>
                <a:ea typeface="Arial"/>
                <a:cs typeface="Arial"/>
              </a:rPr>
              <a:t>30-cycle window, feature fraction 0.7</a:t>
            </a:r>
          </a:p>
        </p:txBody>
      </p:sp>
      <p:sp>
        <p:nvSpPr>
          <p:cNvPr id="9" name="Credible baselines">
            <a:extLst xmlns:a="http://schemas.openxmlformats.org/drawingml/2006/main">
              <a:ext uri="{FF2B5EF4-FFF2-40B4-BE49-F238E27FC236}">
                <a16:creationId xmlns:a16="http://schemas.microsoft.com/office/drawing/2014/main" id="{F452C4BF-551D-4DE6-BE61-B8598F766D5C}"/>
              </a:ext>
            </a:extLst>
          </p:cNvPr>
          <p:cNvSpPr>
            <a:spLocks xmlns:a="http://schemas.openxmlformats.org/drawingml/2006/main" noGrp="1"/>
          </p:cNvSpPr>
          <p:nvPr/>
        </p:nvSpPr>
        <p:spPr>
          <a:xfrm xmlns:a="http://schemas.openxmlformats.org/drawingml/2006/main">
            <a:off x="5715000" y="4191000"/>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223345"/>
                </a:solidFill>
                <a:latin typeface="Arial"/>
                <a:ea typeface="Arial"/>
                <a:cs typeface="Arial"/>
              </a:defRPr>
            </a:defPPr>
          </a:lstStyle>
          <a:p xmlns:a="http://schemas.openxmlformats.org/drawingml/2006/main">
            <a:pPr>
              <a:defRPr sz="2550" b="1">
                <a:solidFill>
                  <a:srgbClr val="223345"/>
                </a:solidFill>
                <a:latin typeface="Arial"/>
                <a:ea typeface="Arial"/>
                <a:cs typeface="Arial"/>
              </a:defRPr>
            </a:pPr>
            <a:r>
              <a:rPr sz="2550" b="1">
                <a:solidFill>
                  <a:srgbClr val="223345"/>
                </a:solidFill>
                <a:latin typeface="Arial"/>
                <a:ea typeface="Arial"/>
                <a:cs typeface="Arial"/>
              </a:rPr>
              <a:t>Credible baselines</a:t>
            </a:r>
          </a:p>
        </p:txBody>
      </p:sp>
      <p:sp>
        <p:nvSpPr>
          <p:cNvPr id="10" name="Standardized ridge, alpha = 100&#10;Age-only">
            <a:extLst xmlns:a="http://schemas.openxmlformats.org/drawingml/2006/main">
              <a:ext uri="{FF2B5EF4-FFF2-40B4-BE49-F238E27FC236}">
                <a16:creationId xmlns:a16="http://schemas.microsoft.com/office/drawing/2014/main" id="{05AEF888-ACAA-4BD9-9B9B-B570C885473F}"/>
              </a:ext>
            </a:extLst>
          </p:cNvPr>
          <p:cNvSpPr>
            <a:spLocks xmlns:a="http://schemas.openxmlformats.org/drawingml/2006/main" noGrp="1"/>
          </p:cNvSpPr>
          <p:nvPr/>
        </p:nvSpPr>
        <p:spPr>
          <a:xfrm xmlns:a="http://schemas.openxmlformats.org/drawingml/2006/main">
            <a:off x="5715000" y="48101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23345"/>
                </a:solidFill>
                <a:latin typeface="Arial"/>
                <a:ea typeface="Arial"/>
                <a:cs typeface="Arial"/>
              </a:defRPr>
            </a:defPPr>
          </a:lstStyle>
          <a:p xmlns:a="http://schemas.openxmlformats.org/drawingml/2006/main">
            <a:pPr>
              <a:defRPr sz="2025" b="0">
                <a:solidFill>
                  <a:srgbClr val="223345"/>
                </a:solidFill>
                <a:latin typeface="Arial"/>
                <a:ea typeface="Arial"/>
                <a:cs typeface="Arial"/>
              </a:defRPr>
            </a:pPr>
            <a:r>
              <a:rPr sz="2025" b="0">
                <a:solidFill>
                  <a:srgbClr val="223345"/>
                </a:solidFill>
                <a:latin typeface="Arial"/>
                <a:ea typeface="Arial"/>
                <a:cs typeface="Arial"/>
              </a:rPr>
              <a:t>Standardized ridge, alpha = 100</a:t>
            </a:r>
          </a:p>
          <a:p xmlns:a="http://schemas.openxmlformats.org/drawingml/2006/main">
            <a:pPr>
              <a:defRPr sz="2025" b="0">
                <a:solidFill>
                  <a:srgbClr val="223345"/>
                </a:solidFill>
                <a:latin typeface="Arial"/>
                <a:ea typeface="Arial"/>
                <a:cs typeface="Arial"/>
              </a:defRPr>
            </a:pPr>
            <a:r>
              <a:rPr sz="2025" b="0">
                <a:solidFill>
                  <a:srgbClr val="223345"/>
                </a:solidFill>
                <a:latin typeface="Arial"/>
                <a:ea typeface="Arial"/>
                <a:cs typeface="Arial"/>
              </a:rPr>
              <a:t>Age-only ridge</a:t>
            </a:r>
          </a:p>
        </p:txBody>
      </p:sp>
    </p:spTree>
    <p:extLst>
      <p:ext uri="{BB962C8B-B14F-4D97-AF65-F5344CB8AC3E}">
        <p14:creationId xmlns:p14="http://schemas.microsoft.com/office/powerpoint/2010/main" val="5449025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Validation and reproducibility">
            <a:extLst xmlns:a="http://schemas.openxmlformats.org/drawingml/2006/main">
              <a:ext uri="{FF2B5EF4-FFF2-40B4-BE49-F238E27FC236}">
                <a16:creationId xmlns:a16="http://schemas.microsoft.com/office/drawing/2014/main" id="{F8BD3842-CBC2-4FDE-95DB-82ED30AD58BA}"/>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Validation and reproducibility</a:t>
            </a:r>
          </a:p>
        </p:txBody>
      </p:sp>
      <p:sp>
        <p:nvSpPr>
          <p:cNvPr id="2" name="Separate engines protect against leakage">
            <a:extLst xmlns:a="http://schemas.openxmlformats.org/drawingml/2006/main">
              <a:ext uri="{FF2B5EF4-FFF2-40B4-BE49-F238E27FC236}">
                <a16:creationId xmlns:a16="http://schemas.microsoft.com/office/drawing/2014/main" id="{BDB71A63-C5B1-4CEC-801E-4E70A7D262D2}"/>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77C"/>
                </a:solidFill>
                <a:latin typeface="Arial"/>
                <a:ea typeface="Arial"/>
                <a:cs typeface="Arial"/>
              </a:defRPr>
            </a:defPPr>
          </a:lstStyle>
          <a:p xmlns:a="http://schemas.openxmlformats.org/drawingml/2006/main">
            <a:pPr>
              <a:defRPr sz="1800" b="0">
                <a:solidFill>
                  <a:srgbClr val="54677C"/>
                </a:solidFill>
                <a:latin typeface="Arial"/>
                <a:ea typeface="Arial"/>
                <a:cs typeface="Arial"/>
              </a:defRPr>
            </a:pPr>
            <a:r>
              <a:rPr sz="1800" b="0">
                <a:solidFill>
                  <a:srgbClr val="54677C"/>
                </a:solidFill>
                <a:latin typeface="Arial"/>
                <a:ea typeface="Arial"/>
                <a:cs typeface="Arial"/>
              </a:rPr>
              <a:t>Separate engines protect against leakage between adjacent cycles</a:t>
            </a:r>
          </a:p>
        </p:txBody>
      </p:sp>
      <p:sp>
        <p:nvSpPr>
          <p:cNvPr id="3" name="MMA3001  /  Chua Shanwei  /  35393343">
            <a:extLst xmlns:a="http://schemas.openxmlformats.org/drawingml/2006/main">
              <a:ext uri="{FF2B5EF4-FFF2-40B4-BE49-F238E27FC236}">
                <a16:creationId xmlns:a16="http://schemas.microsoft.com/office/drawing/2014/main" id="{0048DA63-C86E-4C8F-8639-484A8C75C27C}"/>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4" name="4">
            <a:extLst xmlns:a="http://schemas.openxmlformats.org/drawingml/2006/main">
              <a:ext uri="{FF2B5EF4-FFF2-40B4-BE49-F238E27FC236}">
                <a16:creationId xmlns:a16="http://schemas.microsoft.com/office/drawing/2014/main" id="{D2D9F106-9654-4224-9C1A-C5EA5DBA31D3}"/>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4</a:t>
            </a:r>
          </a:p>
        </p:txBody>
      </p:sp>
      <p:sp>
        <p:nvSpPr>
          <p:cNvPr id="5" name="80 development engines">
            <a:extLst xmlns:a="http://schemas.openxmlformats.org/drawingml/2006/main">
              <a:ext uri="{FF2B5EF4-FFF2-40B4-BE49-F238E27FC236}">
                <a16:creationId xmlns:a16="http://schemas.microsoft.com/office/drawing/2014/main" id="{5C3244A3-AB1D-4B1E-8517-920D7C591144}"/>
              </a:ext>
            </a:extLst>
          </p:cNvPr>
          <p:cNvSpPr>
            <a:spLocks xmlns:a="http://schemas.openxmlformats.org/drawingml/2006/main" noGrp="1"/>
          </p:cNvSpPr>
          <p:nvPr/>
        </p:nvSpPr>
        <p:spPr>
          <a:xfrm xmlns:a="http://schemas.openxmlformats.org/drawingml/2006/main">
            <a:off x="609600" y="2190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68575"/>
                </a:solidFill>
                <a:latin typeface="Arial"/>
                <a:ea typeface="Arial"/>
                <a:cs typeface="Arial"/>
              </a:defRPr>
            </a:defPPr>
          </a:lstStyle>
          <a:p xmlns:a="http://schemas.openxmlformats.org/drawingml/2006/main">
            <a:pPr>
              <a:defRPr sz="2625" b="1">
                <a:solidFill>
                  <a:srgbClr val="168575"/>
                </a:solidFill>
                <a:latin typeface="Arial"/>
                <a:ea typeface="Arial"/>
                <a:cs typeface="Arial"/>
              </a:defRPr>
            </a:pPr>
            <a:r>
              <a:rPr sz="2625" b="1">
                <a:solidFill>
                  <a:srgbClr val="168575"/>
                </a:solidFill>
                <a:latin typeface="Arial"/>
                <a:ea typeface="Arial"/>
                <a:cs typeface="Arial"/>
              </a:rPr>
              <a:t>80 development engines</a:t>
            </a:r>
          </a:p>
        </p:txBody>
      </p:sp>
      <p:sp>
        <p:nvSpPr>
          <p:cNvPr id="6" name="Five folds select settings using one sav">
            <a:extLst xmlns:a="http://schemas.openxmlformats.org/drawingml/2006/main">
              <a:ext uri="{FF2B5EF4-FFF2-40B4-BE49-F238E27FC236}">
                <a16:creationId xmlns:a16="http://schemas.microsoft.com/office/drawing/2014/main" id="{450F5AA0-8B7B-48D9-A130-33C3D03F1B73}"/>
              </a:ext>
            </a:extLst>
          </p:cNvPr>
          <p:cNvSpPr>
            <a:spLocks xmlns:a="http://schemas.openxmlformats.org/drawingml/2006/main" noGrp="1"/>
          </p:cNvSpPr>
          <p:nvPr/>
        </p:nvSpPr>
        <p:spPr>
          <a:xfrm xmlns:a="http://schemas.openxmlformats.org/drawingml/2006/main">
            <a:off x="609600" y="27813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Five folds select settings using one saved endpoint per engine.</a:t>
            </a:r>
          </a:p>
        </p:txBody>
      </p:sp>
      <p:sp>
        <p:nvSpPr>
          <p:cNvPr id="7" name="20 internal holdout engines">
            <a:extLst xmlns:a="http://schemas.openxmlformats.org/drawingml/2006/main">
              <a:ext uri="{FF2B5EF4-FFF2-40B4-BE49-F238E27FC236}">
                <a16:creationId xmlns:a16="http://schemas.microsoft.com/office/drawing/2014/main" id="{4C153742-5B36-472C-A0D5-0C26E0F56069}"/>
              </a:ext>
            </a:extLst>
          </p:cNvPr>
          <p:cNvSpPr>
            <a:spLocks xmlns:a="http://schemas.openxmlformats.org/drawingml/2006/main" noGrp="1"/>
          </p:cNvSpPr>
          <p:nvPr/>
        </p:nvSpPr>
        <p:spPr>
          <a:xfrm xmlns:a="http://schemas.openxmlformats.org/drawingml/2006/main">
            <a:off x="609600" y="3714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63A6"/>
                </a:solidFill>
                <a:latin typeface="Arial"/>
                <a:ea typeface="Arial"/>
                <a:cs typeface="Arial"/>
              </a:defRPr>
            </a:defPPr>
          </a:lstStyle>
          <a:p xmlns:a="http://schemas.openxmlformats.org/drawingml/2006/main">
            <a:pPr>
              <a:defRPr sz="2625" b="1">
                <a:solidFill>
                  <a:srgbClr val="2463A6"/>
                </a:solidFill>
                <a:latin typeface="Arial"/>
                <a:ea typeface="Arial"/>
                <a:cs typeface="Arial"/>
              </a:defRPr>
            </a:pPr>
            <a:r>
              <a:rPr sz="2625" b="1">
                <a:solidFill>
                  <a:srgbClr val="2463A6"/>
                </a:solidFill>
                <a:latin typeface="Arial"/>
                <a:ea typeface="Arial"/>
                <a:cs typeface="Arial"/>
              </a:rPr>
              <a:t>20 internal holdout engines</a:t>
            </a:r>
          </a:p>
        </p:txBody>
      </p:sp>
      <p:sp>
        <p:nvSpPr>
          <p:cNvPr id="8" name="Forest needs at least 5% lower RMSE and ">
            <a:extLst xmlns:a="http://schemas.openxmlformats.org/drawingml/2006/main">
              <a:ext uri="{FF2B5EF4-FFF2-40B4-BE49-F238E27FC236}">
                <a16:creationId xmlns:a16="http://schemas.microsoft.com/office/drawing/2014/main" id="{485174FF-1A8B-4DA0-AA96-12E443A112C7}"/>
              </a:ext>
            </a:extLst>
          </p:cNvPr>
          <p:cNvSpPr>
            <a:spLocks xmlns:a="http://schemas.openxmlformats.org/drawingml/2006/main" noGrp="1"/>
          </p:cNvSpPr>
          <p:nvPr/>
        </p:nvSpPr>
        <p:spPr>
          <a:xfrm xmlns:a="http://schemas.openxmlformats.org/drawingml/2006/main">
            <a:off x="609600" y="43053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Forest needs at least 5% lower RMSE and no worse NASA score.</a:t>
            </a:r>
          </a:p>
        </p:txBody>
      </p:sp>
      <p:sp>
        <p:nvSpPr>
          <p:cNvPr id="9" name="37 passing tests   /   pdoc HTML   /   p">
            <a:extLst xmlns:a="http://schemas.openxmlformats.org/drawingml/2006/main">
              <a:ext uri="{FF2B5EF4-FFF2-40B4-BE49-F238E27FC236}">
                <a16:creationId xmlns:a16="http://schemas.microsoft.com/office/drawing/2014/main" id="{E2DB87CC-571C-4A6A-BE89-6C2A2EFD844B}"/>
              </a:ext>
            </a:extLst>
          </p:cNvPr>
          <p:cNvSpPr>
            <a:spLocks xmlns:a="http://schemas.openxmlformats.org/drawingml/2006/main" noGrp="1"/>
          </p:cNvSpPr>
          <p:nvPr/>
        </p:nvSpPr>
        <p:spPr>
          <a:xfrm xmlns:a="http://schemas.openxmlformats.org/drawingml/2006/main">
            <a:off x="609600" y="52863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23345"/>
                </a:solidFill>
                <a:latin typeface="Arial"/>
                <a:ea typeface="Arial"/>
                <a:cs typeface="Arial"/>
              </a:defRPr>
            </a:defPPr>
          </a:lstStyle>
          <a:p xmlns:a="http://schemas.openxmlformats.org/drawingml/2006/main">
            <a:pPr>
              <a:defRPr sz="1950" b="1">
                <a:solidFill>
                  <a:srgbClr val="223345"/>
                </a:solidFill>
                <a:latin typeface="Arial"/>
                <a:ea typeface="Arial"/>
                <a:cs typeface="Arial"/>
              </a:defRPr>
            </a:pPr>
            <a:r>
              <a:rPr sz="1950" b="1">
                <a:solidFill>
                  <a:srgbClr val="223345"/>
                </a:solidFill>
                <a:latin typeface="Arial"/>
                <a:ea typeface="Arial"/>
                <a:cs typeface="Arial"/>
              </a:rPr>
              <a:t>37 passing tests   /   pdoc HTML   /   pinned Python environment</a:t>
            </a:r>
          </a:p>
        </p:txBody>
      </p:sp>
      <p:sp>
        <p:nvSpPr>
          <p:cNvPr id="10" name="GitHub: Shanwei0111/MMA3001Project   |  ">
            <a:extLst xmlns:a="http://schemas.openxmlformats.org/drawingml/2006/main">
              <a:ext uri="{FF2B5EF4-FFF2-40B4-BE49-F238E27FC236}">
                <a16:creationId xmlns:a16="http://schemas.microsoft.com/office/drawing/2014/main" id="{59F6F790-46AC-46E9-B6F1-90DB284F7694}"/>
              </a:ext>
            </a:extLst>
          </p:cNvPr>
          <p:cNvSpPr>
            <a:spLocks xmlns:a="http://schemas.openxmlformats.org/drawingml/2006/main" noGrp="1"/>
          </p:cNvSpPr>
          <p:nvPr/>
        </p:nvSpPr>
        <p:spPr>
          <a:xfrm xmlns:a="http://schemas.openxmlformats.org/drawingml/2006/main">
            <a:off x="609600" y="5810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4677C"/>
                </a:solidFill>
                <a:latin typeface="Arial"/>
                <a:ea typeface="Arial"/>
                <a:cs typeface="Arial"/>
              </a:defRPr>
            </a:defPPr>
          </a:lstStyle>
          <a:p xmlns:a="http://schemas.openxmlformats.org/drawingml/2006/main">
            <a:pPr>
              <a:defRPr sz="1650" b="0">
                <a:solidFill>
                  <a:srgbClr val="54677C"/>
                </a:solidFill>
                <a:latin typeface="Arial"/>
                <a:ea typeface="Arial"/>
                <a:cs typeface="Arial"/>
              </a:defRPr>
            </a:pPr>
            <a:r>
              <a:rPr sz="1650" b="0">
                <a:solidFill>
                  <a:srgbClr val="54677C"/>
                </a:solidFill>
                <a:latin typeface="Arial"/>
                <a:ea typeface="Arial"/>
                <a:cs typeface="Arial"/>
              </a:rPr>
              <a:t>GitHub: Shanwei0111/MMA3001Project   |   src, tests, docs, artifacts</a:t>
            </a:r>
          </a:p>
        </p:txBody>
      </p:sp>
    </p:spTree>
    <p:extLst>
      <p:ext uri="{BB962C8B-B14F-4D97-AF65-F5344CB8AC3E}">
        <p14:creationId xmlns:p14="http://schemas.microsoft.com/office/powerpoint/2010/main" val="1605648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fficial test results">
            <a:extLst xmlns:a="http://schemas.openxmlformats.org/drawingml/2006/main">
              <a:ext uri="{FF2B5EF4-FFF2-40B4-BE49-F238E27FC236}">
                <a16:creationId xmlns:a16="http://schemas.microsoft.com/office/drawing/2014/main" id="{91AEC074-23A3-4BAB-AD26-A762773BF28A}"/>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Official test results</a:t>
            </a:r>
          </a:p>
        </p:txBody>
      </p:sp>
      <p:sp>
        <p:nvSpPr>
          <p:cNvPr id="2" name="100 engine endpoints, evaluated after mo">
            <a:extLst xmlns:a="http://schemas.openxmlformats.org/drawingml/2006/main">
              <a:ext uri="{FF2B5EF4-FFF2-40B4-BE49-F238E27FC236}">
                <a16:creationId xmlns:a16="http://schemas.microsoft.com/office/drawing/2014/main" id="{88D99DF7-A7EC-44E6-8CBA-1F2DBC169338}"/>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77C"/>
                </a:solidFill>
                <a:latin typeface="Arial"/>
                <a:ea typeface="Arial"/>
                <a:cs typeface="Arial"/>
              </a:defRPr>
            </a:defPPr>
          </a:lstStyle>
          <a:p xmlns:a="http://schemas.openxmlformats.org/drawingml/2006/main">
            <a:pPr>
              <a:defRPr sz="1800" b="0">
                <a:solidFill>
                  <a:srgbClr val="54677C"/>
                </a:solidFill>
                <a:latin typeface="Arial"/>
                <a:ea typeface="Arial"/>
                <a:cs typeface="Arial"/>
              </a:defRPr>
            </a:pPr>
            <a:r>
              <a:rPr sz="1800" b="0">
                <a:solidFill>
                  <a:srgbClr val="54677C"/>
                </a:solidFill>
                <a:latin typeface="Arial"/>
                <a:ea typeface="Arial"/>
                <a:cs typeface="Arial"/>
              </a:rPr>
              <a:t>100 engine endpoints, evaluated after model selection</a:t>
            </a:r>
          </a:p>
        </p:txBody>
      </p:sp>
      <p:sp>
        <p:nvSpPr>
          <p:cNvPr id="3" name="MMA3001  /  Chua Shanwei  /  35393343">
            <a:extLst xmlns:a="http://schemas.openxmlformats.org/drawingml/2006/main">
              <a:ext uri="{FF2B5EF4-FFF2-40B4-BE49-F238E27FC236}">
                <a16:creationId xmlns:a16="http://schemas.microsoft.com/office/drawing/2014/main" id="{4B4C539A-297F-44D4-8E55-D752EB3FCC02}"/>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4" name="5">
            <a:extLst xmlns:a="http://schemas.openxmlformats.org/drawingml/2006/main">
              <a:ext uri="{FF2B5EF4-FFF2-40B4-BE49-F238E27FC236}">
                <a16:creationId xmlns:a16="http://schemas.microsoft.com/office/drawing/2014/main" id="{855659F1-304A-4039-BF17-E87DFD8D36C6}"/>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5</a:t>
            </a:r>
          </a:p>
        </p:txBody>
      </p:sp>
      <p:graphicFrame>
        <p:nvGraphicFramePr>
          <p:cNvPr id="5" name="Chart">
            <a:extLst xmlns:a="http://schemas.openxmlformats.org/drawingml/2006/main">
              <a:ext uri="{FF2B5EF4-FFF2-40B4-BE49-F238E27FC236}">
                <a16:creationId xmlns:a16="http://schemas.microsoft.com/office/drawing/2014/main" id="{5CB6D5FC-DCB0-455B-B0E8-01A1B6018DFC}"/>
              </a:ext>
            </a:extLst>
          </p:cNvPr>
          <p:cNvGraphicFramePr/>
          <p:nvPr/>
        </p:nvGraphicFramePr>
        <p:xfrm>
          <a:off xmlns:a="http://schemas.openxmlformats.org/drawingml/2006/main" x="523875" y="2000250"/>
          <a:ext xmlns:a="http://schemas.openxmlformats.org/drawingml/2006/main" cx="7334250" cy="3810000"/>
        </p:xfrm>
        <a:graphic xmlns:a="http://schemas.openxmlformats.org/drawingml/2006/main">
          <a:graphicData uri="http://schemas.openxmlformats.org/drawingml/2006/chart">
            <c:chart xmlns:r="http://schemas.openxmlformats.org/officeDocument/2006/relationships" xmlns:c="http://schemas.openxmlformats.org/drawingml/2006/chart" r:id="R64e4e653b6fa46b5"/>
          </a:graphicData>
        </a:graphic>
      </p:graphicFrame>
      <p:sp>
        <p:nvSpPr>
          <p:cNvPr id="6" name="14.69 cycles">
            <a:extLst xmlns:a="http://schemas.openxmlformats.org/drawingml/2006/main">
              <a:ext uri="{FF2B5EF4-FFF2-40B4-BE49-F238E27FC236}">
                <a16:creationId xmlns:a16="http://schemas.microsoft.com/office/drawing/2014/main" id="{C011BFA8-9EF8-458B-9C90-BA6FB65C8C04}"/>
              </a:ext>
            </a:extLst>
          </p:cNvPr>
          <p:cNvSpPr>
            <a:spLocks xmlns:a="http://schemas.openxmlformats.org/drawingml/2006/main" noGrp="1"/>
          </p:cNvSpPr>
          <p:nvPr/>
        </p:nvSpPr>
        <p:spPr>
          <a:xfrm xmlns:a="http://schemas.openxmlformats.org/drawingml/2006/main">
            <a:off x="8286750" y="23336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68575"/>
                </a:solidFill>
                <a:latin typeface="Arial"/>
                <a:ea typeface="Arial"/>
                <a:cs typeface="Arial"/>
              </a:defRPr>
            </a:defPPr>
          </a:lstStyle>
          <a:p xmlns:a="http://schemas.openxmlformats.org/drawingml/2006/main">
            <a:pPr>
              <a:defRPr sz="3000" b="1">
                <a:solidFill>
                  <a:srgbClr val="168575"/>
                </a:solidFill>
                <a:latin typeface="Arial"/>
                <a:ea typeface="Arial"/>
                <a:cs typeface="Arial"/>
              </a:defRPr>
            </a:pPr>
            <a:r>
              <a:rPr sz="3000" b="1">
                <a:solidFill>
                  <a:srgbClr val="168575"/>
                </a:solidFill>
                <a:latin typeface="Arial"/>
                <a:ea typeface="Arial"/>
                <a:cs typeface="Arial"/>
              </a:rPr>
              <a:t>14.69 cycles</a:t>
            </a:r>
          </a:p>
        </p:txBody>
      </p:sp>
      <p:sp>
        <p:nvSpPr>
          <p:cNvPr id="7" name="Forest MAE">
            <a:extLst xmlns:a="http://schemas.openxmlformats.org/drawingml/2006/main">
              <a:ext uri="{FF2B5EF4-FFF2-40B4-BE49-F238E27FC236}">
                <a16:creationId xmlns:a16="http://schemas.microsoft.com/office/drawing/2014/main" id="{06CF6821-9E6C-489A-9BC9-EE591462EE95}"/>
              </a:ext>
            </a:extLst>
          </p:cNvPr>
          <p:cNvSpPr>
            <a:spLocks xmlns:a="http://schemas.openxmlformats.org/drawingml/2006/main" noGrp="1"/>
          </p:cNvSpPr>
          <p:nvPr/>
        </p:nvSpPr>
        <p:spPr>
          <a:xfrm xmlns:a="http://schemas.openxmlformats.org/drawingml/2006/main">
            <a:off x="8286750" y="30289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23345"/>
                </a:solidFill>
                <a:latin typeface="Arial"/>
                <a:ea typeface="Arial"/>
                <a:cs typeface="Arial"/>
              </a:defRPr>
            </a:defPPr>
          </a:lstStyle>
          <a:p xmlns:a="http://schemas.openxmlformats.org/drawingml/2006/main">
            <a:pPr>
              <a:defRPr sz="1950" b="0">
                <a:solidFill>
                  <a:srgbClr val="223345"/>
                </a:solidFill>
                <a:latin typeface="Arial"/>
                <a:ea typeface="Arial"/>
                <a:cs typeface="Arial"/>
              </a:defRPr>
            </a:pPr>
            <a:r>
              <a:rPr sz="1950" b="0">
                <a:solidFill>
                  <a:srgbClr val="223345"/>
                </a:solidFill>
                <a:latin typeface="Arial"/>
                <a:ea typeface="Arial"/>
                <a:cs typeface="Arial"/>
              </a:rPr>
              <a:t>Forest MAE</a:t>
            </a:r>
          </a:p>
        </p:txBody>
      </p:sp>
      <p:sp>
        <p:nvSpPr>
          <p:cNvPr id="8" name="NASA score&#10;Forest 2,174.6&#10;Ridge 1,670.4">
            <a:extLst xmlns:a="http://schemas.openxmlformats.org/drawingml/2006/main">
              <a:ext uri="{FF2B5EF4-FFF2-40B4-BE49-F238E27FC236}">
                <a16:creationId xmlns:a16="http://schemas.microsoft.com/office/drawing/2014/main" id="{92B72D08-3CD4-4519-A704-663E412BDBB6}"/>
              </a:ext>
            </a:extLst>
          </p:cNvPr>
          <p:cNvSpPr>
            <a:spLocks xmlns:a="http://schemas.openxmlformats.org/drawingml/2006/main" noGrp="1"/>
          </p:cNvSpPr>
          <p:nvPr/>
        </p:nvSpPr>
        <p:spPr>
          <a:xfrm xmlns:a="http://schemas.openxmlformats.org/drawingml/2006/main">
            <a:off x="8286750" y="400050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23345"/>
                </a:solidFill>
                <a:latin typeface="Arial"/>
                <a:ea typeface="Arial"/>
                <a:cs typeface="Arial"/>
              </a:defRPr>
            </a:defPPr>
          </a:lstStyle>
          <a:p xmlns:a="http://schemas.openxmlformats.org/drawingml/2006/main">
            <a:pPr>
              <a:defRPr sz="2025" b="1">
                <a:solidFill>
                  <a:srgbClr val="223345"/>
                </a:solidFill>
                <a:latin typeface="Arial"/>
                <a:ea typeface="Arial"/>
                <a:cs typeface="Arial"/>
              </a:defRPr>
            </a:pPr>
            <a:r>
              <a:rPr sz="2025" b="1">
                <a:solidFill>
                  <a:srgbClr val="223345"/>
                </a:solidFill>
                <a:latin typeface="Arial"/>
                <a:ea typeface="Arial"/>
                <a:cs typeface="Arial"/>
              </a:rPr>
              <a:t>NASA score</a:t>
            </a:r>
          </a:p>
          <a:p xmlns:a="http://schemas.openxmlformats.org/drawingml/2006/main">
            <a:pPr>
              <a:defRPr sz="2025" b="1">
                <a:solidFill>
                  <a:srgbClr val="223345"/>
                </a:solidFill>
                <a:latin typeface="Arial"/>
                <a:ea typeface="Arial"/>
                <a:cs typeface="Arial"/>
              </a:defRPr>
            </a:pPr>
            <a:r>
              <a:rPr sz="2025" b="1">
                <a:solidFill>
                  <a:srgbClr val="223345"/>
                </a:solidFill>
                <a:latin typeface="Arial"/>
                <a:ea typeface="Arial"/>
                <a:cs typeface="Arial"/>
              </a:rPr>
              <a:t>Forest 2,174.6</a:t>
            </a:r>
          </a:p>
          <a:p xmlns:a="http://schemas.openxmlformats.org/drawingml/2006/main">
            <a:pPr>
              <a:defRPr sz="2025" b="1">
                <a:solidFill>
                  <a:srgbClr val="223345"/>
                </a:solidFill>
                <a:latin typeface="Arial"/>
                <a:ea typeface="Arial"/>
                <a:cs typeface="Arial"/>
              </a:defRPr>
            </a:pPr>
            <a:r>
              <a:rPr sz="2025" b="1">
                <a:solidFill>
                  <a:srgbClr val="223345"/>
                </a:solidFill>
                <a:latin typeface="Arial"/>
                <a:ea typeface="Arial"/>
                <a:cs typeface="Arial"/>
              </a:rPr>
              <a:t>Ridge 1,670.4</a:t>
            </a:r>
          </a:p>
        </p:txBody>
      </p:sp>
      <p:sp>
        <p:nvSpPr>
          <p:cNvPr id="9" name="Lower average error, but a worse penalty">
            <a:extLst xmlns:a="http://schemas.openxmlformats.org/drawingml/2006/main">
              <a:ext uri="{FF2B5EF4-FFF2-40B4-BE49-F238E27FC236}">
                <a16:creationId xmlns:a16="http://schemas.microsoft.com/office/drawing/2014/main" id="{F56A32FF-4C4A-4A85-B8A9-A3B0B2C97FC1}"/>
              </a:ext>
            </a:extLst>
          </p:cNvPr>
          <p:cNvSpPr>
            <a:spLocks xmlns:a="http://schemas.openxmlformats.org/drawingml/2006/main" noGrp="1"/>
          </p:cNvSpPr>
          <p:nvPr/>
        </p:nvSpPr>
        <p:spPr>
          <a:xfrm xmlns:a="http://schemas.openxmlformats.org/drawingml/2006/main">
            <a:off x="609600" y="58578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23345"/>
                </a:solidFill>
                <a:latin typeface="Arial"/>
                <a:ea typeface="Arial"/>
                <a:cs typeface="Arial"/>
              </a:defRPr>
            </a:defPPr>
          </a:lstStyle>
          <a:p xmlns:a="http://schemas.openxmlformats.org/drawingml/2006/main">
            <a:pPr>
              <a:defRPr sz="1875" b="1">
                <a:solidFill>
                  <a:srgbClr val="223345"/>
                </a:solidFill>
                <a:latin typeface="Arial"/>
                <a:ea typeface="Arial"/>
                <a:cs typeface="Arial"/>
              </a:defRPr>
            </a:pPr>
            <a:r>
              <a:rPr sz="1875" b="1">
                <a:solidFill>
                  <a:srgbClr val="223345"/>
                </a:solidFill>
                <a:latin typeface="Arial"/>
                <a:ea typeface="Arial"/>
                <a:cs typeface="Arial"/>
              </a:rPr>
              <a:t>Lower average error, but a worse penalty for optimistic tail errors.</a:t>
            </a:r>
          </a:p>
        </p:txBody>
      </p:sp>
    </p:spTree>
    <p:extLst>
      <p:ext uri="{BB962C8B-B14F-4D97-AF65-F5344CB8AC3E}">
        <p14:creationId xmlns:p14="http://schemas.microsoft.com/office/powerpoint/2010/main" val="21432793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erformance and optimization">
            <a:extLst xmlns:a="http://schemas.openxmlformats.org/drawingml/2006/main">
              <a:ext uri="{FF2B5EF4-FFF2-40B4-BE49-F238E27FC236}">
                <a16:creationId xmlns:a16="http://schemas.microsoft.com/office/drawing/2014/main" id="{9A606940-68A8-4E18-A3D2-E0BCFA562C2D}"/>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Performance and optimization</a:t>
            </a:r>
          </a:p>
        </p:txBody>
      </p:sp>
      <p:sp>
        <p:nvSpPr>
          <p:cNvPr id="2" name="Measured on one machine with one computa">
            <a:extLst xmlns:a="http://schemas.openxmlformats.org/drawingml/2006/main">
              <a:ext uri="{FF2B5EF4-FFF2-40B4-BE49-F238E27FC236}">
                <a16:creationId xmlns:a16="http://schemas.microsoft.com/office/drawing/2014/main" id="{33939ED1-54B2-49CF-B56B-EB6504777ADA}"/>
              </a:ext>
            </a:extLst>
          </p:cNvPr>
          <p:cNvSpPr>
            <a:spLocks xmlns:a="http://schemas.openxmlformats.org/drawingml/2006/main" noGrp="1"/>
          </p:cNvSpPr>
          <p:nvPr/>
        </p:nvSpPr>
        <p:spPr>
          <a:xfrm xmlns:a="http://schemas.openxmlformats.org/drawingml/2006/main">
            <a:off x="609600" y="1409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4677C"/>
                </a:solidFill>
                <a:latin typeface="Arial"/>
                <a:ea typeface="Arial"/>
                <a:cs typeface="Arial"/>
              </a:defRPr>
            </a:defPPr>
          </a:lstStyle>
          <a:p xmlns:a="http://schemas.openxmlformats.org/drawingml/2006/main">
            <a:pPr>
              <a:defRPr sz="1800" b="0">
                <a:solidFill>
                  <a:srgbClr val="54677C"/>
                </a:solidFill>
                <a:latin typeface="Arial"/>
                <a:ea typeface="Arial"/>
                <a:cs typeface="Arial"/>
              </a:defRPr>
            </a:pPr>
            <a:r>
              <a:rPr sz="1800" b="0">
                <a:solidFill>
                  <a:srgbClr val="54677C"/>
                </a:solidFill>
                <a:latin typeface="Arial"/>
                <a:ea typeface="Arial"/>
                <a:cs typeface="Arial"/>
              </a:rPr>
              <a:t>Measured on one machine with one computation thread</a:t>
            </a:r>
          </a:p>
        </p:txBody>
      </p:sp>
      <p:sp>
        <p:nvSpPr>
          <p:cNvPr id="3" name="MMA3001  /  Chua Shanwei  /  35393343">
            <a:extLst xmlns:a="http://schemas.openxmlformats.org/drawingml/2006/main">
              <a:ext uri="{FF2B5EF4-FFF2-40B4-BE49-F238E27FC236}">
                <a16:creationId xmlns:a16="http://schemas.microsoft.com/office/drawing/2014/main" id="{39FECA35-EA76-4B4B-A30C-39B66F6457DC}"/>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4" name="6">
            <a:extLst xmlns:a="http://schemas.openxmlformats.org/drawingml/2006/main">
              <a:ext uri="{FF2B5EF4-FFF2-40B4-BE49-F238E27FC236}">
                <a16:creationId xmlns:a16="http://schemas.microsoft.com/office/drawing/2014/main" id="{5F9B9700-579D-480C-8472-56F4B6A7F576}"/>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6</a:t>
            </a:r>
          </a:p>
        </p:txBody>
      </p:sp>
      <p:graphicFrame>
        <p:nvGraphicFramePr>
          <p:cNvPr id="5" name="Chart">
            <a:extLst xmlns:a="http://schemas.openxmlformats.org/drawingml/2006/main">
              <a:ext uri="{FF2B5EF4-FFF2-40B4-BE49-F238E27FC236}">
                <a16:creationId xmlns:a16="http://schemas.microsoft.com/office/drawing/2014/main" id="{831E5F26-9AC6-4393-9BCD-C6C4F908C7EB}"/>
              </a:ext>
            </a:extLst>
          </p:cNvPr>
          <p:cNvGraphicFramePr/>
          <p:nvPr/>
        </p:nvGraphicFramePr>
        <p:xfrm>
          <a:off xmlns:a="http://schemas.openxmlformats.org/drawingml/2006/main" x="523875" y="2000250"/>
          <a:ext xmlns:a="http://schemas.openxmlformats.org/drawingml/2006/main" cx="7143750" cy="3810000"/>
        </p:xfrm>
        <a:graphic xmlns:a="http://schemas.openxmlformats.org/drawingml/2006/main">
          <a:graphicData uri="http://schemas.openxmlformats.org/drawingml/2006/chart">
            <c:chart xmlns:r="http://schemas.openxmlformats.org/officeDocument/2006/relationships" xmlns:c="http://schemas.openxmlformats.org/drawingml/2006/chart" r:id="R279b71c2f09a4f09"/>
          </a:graphicData>
        </a:graphic>
      </p:graphicFrame>
      <p:sp>
        <p:nvSpPr>
          <p:cNvPr id="6" name="1.59x speedup">
            <a:extLst xmlns:a="http://schemas.openxmlformats.org/drawingml/2006/main">
              <a:ext uri="{FF2B5EF4-FFF2-40B4-BE49-F238E27FC236}">
                <a16:creationId xmlns:a16="http://schemas.microsoft.com/office/drawing/2014/main" id="{A0F36610-FCD6-4CE0-BE0C-072B8927CD38}"/>
              </a:ext>
            </a:extLst>
          </p:cNvPr>
          <p:cNvSpPr>
            <a:spLocks xmlns:a="http://schemas.openxmlformats.org/drawingml/2006/main" noGrp="1"/>
          </p:cNvSpPr>
          <p:nvPr/>
        </p:nvSpPr>
        <p:spPr>
          <a:xfrm xmlns:a="http://schemas.openxmlformats.org/drawingml/2006/main">
            <a:off x="8096250" y="233362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68575"/>
                </a:solidFill>
                <a:latin typeface="Arial"/>
                <a:ea typeface="Arial"/>
                <a:cs typeface="Arial"/>
              </a:defRPr>
            </a:defPPr>
          </a:lstStyle>
          <a:p xmlns:a="http://schemas.openxmlformats.org/drawingml/2006/main">
            <a:pPr>
              <a:defRPr sz="3000" b="1">
                <a:solidFill>
                  <a:srgbClr val="168575"/>
                </a:solidFill>
                <a:latin typeface="Arial"/>
                <a:ea typeface="Arial"/>
                <a:cs typeface="Arial"/>
              </a:defRPr>
            </a:pPr>
            <a:r>
              <a:rPr sz="3000" b="1">
                <a:solidFill>
                  <a:srgbClr val="168575"/>
                </a:solidFill>
                <a:latin typeface="Arial"/>
                <a:ea typeface="Arial"/>
                <a:cs typeface="Arial"/>
              </a:rPr>
              <a:t>1.59x speedup</a:t>
            </a:r>
          </a:p>
        </p:txBody>
      </p:sp>
      <p:sp>
        <p:nvSpPr>
          <p:cNvPr id="7" name="Maximum feature difference&#10;1.88e-13">
            <a:extLst xmlns:a="http://schemas.openxmlformats.org/drawingml/2006/main">
              <a:ext uri="{FF2B5EF4-FFF2-40B4-BE49-F238E27FC236}">
                <a16:creationId xmlns:a16="http://schemas.microsoft.com/office/drawing/2014/main" id="{EAFF1748-3221-48FB-81F5-86B3D3C7C7B2}"/>
              </a:ext>
            </a:extLst>
          </p:cNvPr>
          <p:cNvSpPr>
            <a:spLocks xmlns:a="http://schemas.openxmlformats.org/drawingml/2006/main" noGrp="1"/>
          </p:cNvSpPr>
          <p:nvPr/>
        </p:nvSpPr>
        <p:spPr>
          <a:xfrm xmlns:a="http://schemas.openxmlformats.org/drawingml/2006/main">
            <a:off x="8096250" y="3238500"/>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23345"/>
                </a:solidFill>
                <a:latin typeface="Arial"/>
                <a:ea typeface="Arial"/>
                <a:cs typeface="Arial"/>
              </a:defRPr>
            </a:defPPr>
          </a:lstStyle>
          <a:p xmlns:a="http://schemas.openxmlformats.org/drawingml/2006/main">
            <a:pPr>
              <a:defRPr sz="1875" b="0">
                <a:solidFill>
                  <a:srgbClr val="223345"/>
                </a:solidFill>
                <a:latin typeface="Arial"/>
                <a:ea typeface="Arial"/>
                <a:cs typeface="Arial"/>
              </a:defRPr>
            </a:pPr>
            <a:r>
              <a:rPr sz="1875" b="0">
                <a:solidFill>
                  <a:srgbClr val="223345"/>
                </a:solidFill>
                <a:latin typeface="Arial"/>
                <a:ea typeface="Arial"/>
                <a:cs typeface="Arial"/>
              </a:rPr>
              <a:t>Maximum feature difference</a:t>
            </a:r>
          </a:p>
          <a:p xmlns:a="http://schemas.openxmlformats.org/drawingml/2006/main">
            <a:pPr>
              <a:defRPr sz="1875" b="0">
                <a:solidFill>
                  <a:srgbClr val="223345"/>
                </a:solidFill>
                <a:latin typeface="Arial"/>
                <a:ea typeface="Arial"/>
                <a:cs typeface="Arial"/>
              </a:defRPr>
            </a:pPr>
            <a:r>
              <a:rPr sz="1875" b="0">
                <a:solidFill>
                  <a:srgbClr val="223345"/>
                </a:solidFill>
                <a:latin typeface="Arial"/>
                <a:ea typeface="Arial"/>
                <a:cs typeface="Arial"/>
              </a:rPr>
              <a:t>1.88e-13</a:t>
            </a:r>
          </a:p>
        </p:txBody>
      </p:sp>
      <p:sp>
        <p:nvSpPr>
          <p:cNvPr id="8" name="Forest history-to-output&#10;20.29 ms median">
            <a:extLst xmlns:a="http://schemas.openxmlformats.org/drawingml/2006/main">
              <a:ext uri="{FF2B5EF4-FFF2-40B4-BE49-F238E27FC236}">
                <a16:creationId xmlns:a16="http://schemas.microsoft.com/office/drawing/2014/main" id="{39523FB3-8AED-4CCC-B099-B0F778A58871}"/>
              </a:ext>
            </a:extLst>
          </p:cNvPr>
          <p:cNvSpPr>
            <a:spLocks xmlns:a="http://schemas.openxmlformats.org/drawingml/2006/main" noGrp="1"/>
          </p:cNvSpPr>
          <p:nvPr/>
        </p:nvSpPr>
        <p:spPr>
          <a:xfrm xmlns:a="http://schemas.openxmlformats.org/drawingml/2006/main">
            <a:off x="8096250" y="4619625"/>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23345"/>
                </a:solidFill>
                <a:latin typeface="Arial"/>
                <a:ea typeface="Arial"/>
                <a:cs typeface="Arial"/>
              </a:defRPr>
            </a:defPPr>
          </a:lstStyle>
          <a:p xmlns:a="http://schemas.openxmlformats.org/drawingml/2006/main">
            <a:pPr>
              <a:defRPr sz="1875" b="0">
                <a:solidFill>
                  <a:srgbClr val="223345"/>
                </a:solidFill>
                <a:latin typeface="Arial"/>
                <a:ea typeface="Arial"/>
                <a:cs typeface="Arial"/>
              </a:defRPr>
            </a:pPr>
            <a:r>
              <a:rPr sz="1875" b="0">
                <a:solidFill>
                  <a:srgbClr val="223345"/>
                </a:solidFill>
                <a:latin typeface="Arial"/>
                <a:ea typeface="Arial"/>
                <a:cs typeface="Arial"/>
              </a:rPr>
              <a:t>Forest history-to-output</a:t>
            </a:r>
          </a:p>
          <a:p xmlns:a="http://schemas.openxmlformats.org/drawingml/2006/main">
            <a:pPr>
              <a:defRPr sz="1875" b="0">
                <a:solidFill>
                  <a:srgbClr val="223345"/>
                </a:solidFill>
                <a:latin typeface="Arial"/>
                <a:ea typeface="Arial"/>
                <a:cs typeface="Arial"/>
              </a:defRPr>
            </a:pPr>
            <a:r>
              <a:rPr sz="1875" b="0">
                <a:solidFill>
                  <a:srgbClr val="223345"/>
                </a:solidFill>
                <a:latin typeface="Arial"/>
                <a:ea typeface="Arial"/>
                <a:cs typeface="Arial"/>
              </a:rPr>
              <a:t>20.29 ms median</a:t>
            </a:r>
          </a:p>
        </p:txBody>
      </p:sp>
      <p:sp>
        <p:nvSpPr>
          <p:cNvPr id="9" name="Ridge: 38 dot-product FLOPs + 38 scaling">
            <a:extLst xmlns:a="http://schemas.openxmlformats.org/drawingml/2006/main">
              <a:ext uri="{FF2B5EF4-FFF2-40B4-BE49-F238E27FC236}">
                <a16:creationId xmlns:a16="http://schemas.microsoft.com/office/drawing/2014/main" id="{45291192-329B-4679-AD8B-3869B4816C9E}"/>
              </a:ext>
            </a:extLst>
          </p:cNvPr>
          <p:cNvSpPr>
            <a:spLocks xmlns:a="http://schemas.openxmlformats.org/drawingml/2006/main" noGrp="1"/>
          </p:cNvSpPr>
          <p:nvPr/>
        </p:nvSpPr>
        <p:spPr>
          <a:xfrm xmlns:a="http://schemas.openxmlformats.org/drawingml/2006/main">
            <a:off x="609600" y="5857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23345"/>
                </a:solidFill>
                <a:latin typeface="Arial"/>
                <a:ea typeface="Arial"/>
                <a:cs typeface="Arial"/>
              </a:defRPr>
            </a:defPPr>
          </a:lstStyle>
          <a:p xmlns:a="http://schemas.openxmlformats.org/drawingml/2006/main">
            <a:pPr>
              <a:defRPr sz="1725" b="0">
                <a:solidFill>
                  <a:srgbClr val="223345"/>
                </a:solidFill>
                <a:latin typeface="Arial"/>
                <a:ea typeface="Arial"/>
                <a:cs typeface="Arial"/>
              </a:defRPr>
            </a:pPr>
            <a:r>
              <a:rPr sz="1725" b="0">
                <a:solidFill>
                  <a:srgbClr val="223345"/>
                </a:solidFill>
                <a:latin typeface="Arial"/>
                <a:ea typeface="Arial"/>
                <a:cs typeface="Arial"/>
              </a:rPr>
              <a:t>Ridge: 38 dot-product FLOPs + 38 scaling FLOPs. Tree comparisons differ from FLOPs.</a:t>
            </a:r>
          </a:p>
        </p:txBody>
      </p:sp>
    </p:spTree>
    <p:extLst>
      <p:ext uri="{BB962C8B-B14F-4D97-AF65-F5344CB8AC3E}">
        <p14:creationId xmlns:p14="http://schemas.microsoft.com/office/powerpoint/2010/main" val="20392024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imitations and AI reflection">
            <a:extLst xmlns:a="http://schemas.openxmlformats.org/drawingml/2006/main">
              <a:ext uri="{FF2B5EF4-FFF2-40B4-BE49-F238E27FC236}">
                <a16:creationId xmlns:a16="http://schemas.microsoft.com/office/drawing/2014/main" id="{A5C375F9-D0EE-488C-A788-475C53636230}"/>
              </a:ext>
            </a:extLst>
          </p:cNvPr>
          <p:cNvSpPr>
            <a:spLocks xmlns:a="http://schemas.openxmlformats.org/drawingml/2006/main" noGrp="1"/>
          </p:cNvSpPr>
          <p:nvPr/>
        </p:nvSpPr>
        <p:spPr>
          <a:xfrm xmlns:a="http://schemas.openxmlformats.org/drawingml/2006/main">
            <a:off x="609600" y="4381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34D"/>
                </a:solidFill>
                <a:latin typeface="Arial"/>
                <a:ea typeface="Arial"/>
                <a:cs typeface="Arial"/>
              </a:defRPr>
            </a:defPPr>
          </a:lstStyle>
          <a:p xmlns:a="http://schemas.openxmlformats.org/drawingml/2006/main">
            <a:pPr>
              <a:defRPr sz="3300" b="1">
                <a:solidFill>
                  <a:srgbClr val="12334D"/>
                </a:solidFill>
                <a:latin typeface="Arial"/>
                <a:ea typeface="Arial"/>
                <a:cs typeface="Arial"/>
              </a:defRPr>
            </a:pPr>
            <a:r>
              <a:rPr sz="3300" b="1">
                <a:solidFill>
                  <a:srgbClr val="12334D"/>
                </a:solidFill>
                <a:latin typeface="Arial"/>
                <a:ea typeface="Arial"/>
                <a:cs typeface="Arial"/>
              </a:rPr>
              <a:t>Limitations and AI reflection</a:t>
            </a:r>
          </a:p>
        </p:txBody>
      </p:sp>
      <p:sp>
        <p:nvSpPr>
          <p:cNvPr id="2" name="MMA3001  /  Chua Shanwei  /  35393343">
            <a:extLst xmlns:a="http://schemas.openxmlformats.org/drawingml/2006/main">
              <a:ext uri="{FF2B5EF4-FFF2-40B4-BE49-F238E27FC236}">
                <a16:creationId xmlns:a16="http://schemas.microsoft.com/office/drawing/2014/main" id="{A4AE0902-C721-4BD7-B4AF-FAF97293E10B}"/>
              </a:ext>
            </a:extLst>
          </p:cNvPr>
          <p:cNvSpPr>
            <a:spLocks xmlns:a="http://schemas.openxmlformats.org/drawingml/2006/main" noGrp="1"/>
          </p:cNvSpPr>
          <p:nvPr/>
        </p:nvSpPr>
        <p:spPr>
          <a:xfrm xmlns:a="http://schemas.openxmlformats.org/drawingml/2006/main">
            <a:off x="609600" y="6334125"/>
            <a:ext cx="981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MMA3001  /  Chua Shanwei  /  35393343</a:t>
            </a:r>
          </a:p>
        </p:txBody>
      </p:sp>
      <p:sp>
        <p:nvSpPr>
          <p:cNvPr id="3" name="7">
            <a:extLst xmlns:a="http://schemas.openxmlformats.org/drawingml/2006/main">
              <a:ext uri="{FF2B5EF4-FFF2-40B4-BE49-F238E27FC236}">
                <a16:creationId xmlns:a16="http://schemas.microsoft.com/office/drawing/2014/main" id="{56C73166-AA5B-4642-9D76-2A978DE2997F}"/>
              </a:ext>
            </a:extLst>
          </p:cNvPr>
          <p:cNvSpPr>
            <a:spLocks xmlns:a="http://schemas.openxmlformats.org/drawingml/2006/main" noGrp="1"/>
          </p:cNvSpPr>
          <p:nvPr/>
        </p:nvSpPr>
        <p:spPr>
          <a:xfrm xmlns:a="http://schemas.openxmlformats.org/drawingml/2006/main">
            <a:off x="11049000" y="63341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4677C"/>
                </a:solidFill>
                <a:latin typeface="Arial"/>
                <a:ea typeface="Arial"/>
                <a:cs typeface="Arial"/>
              </a:defRPr>
            </a:defPPr>
          </a:lstStyle>
          <a:p xmlns:a="http://schemas.openxmlformats.org/drawingml/2006/main">
            <a:pPr>
              <a:defRPr sz="1275" b="0">
                <a:solidFill>
                  <a:srgbClr val="54677C"/>
                </a:solidFill>
                <a:latin typeface="Arial"/>
                <a:ea typeface="Arial"/>
                <a:cs typeface="Arial"/>
              </a:defRPr>
            </a:pPr>
            <a:r>
              <a:rPr sz="1275" b="0">
                <a:solidFill>
                  <a:srgbClr val="54677C"/>
                </a:solidFill>
                <a:latin typeface="Arial"/>
                <a:ea typeface="Arial"/>
                <a:cs typeface="Arial"/>
              </a:rPr>
              <a:t>7</a:t>
            </a:r>
          </a:p>
        </p:txBody>
      </p:sp>
      <p:sp>
        <p:nvSpPr>
          <p:cNvPr id="4" name="Engineering limits">
            <a:extLst xmlns:a="http://schemas.openxmlformats.org/drawingml/2006/main">
              <a:ext uri="{FF2B5EF4-FFF2-40B4-BE49-F238E27FC236}">
                <a16:creationId xmlns:a16="http://schemas.microsoft.com/office/drawing/2014/main" id="{43D62828-FE98-4E76-8A38-8C2D05F64D34}"/>
              </a:ext>
            </a:extLst>
          </p:cNvPr>
          <p:cNvSpPr>
            <a:spLocks xmlns:a="http://schemas.openxmlformats.org/drawingml/2006/main" noGrp="1"/>
          </p:cNvSpPr>
          <p:nvPr/>
        </p:nvSpPr>
        <p:spPr>
          <a:xfrm xmlns:a="http://schemas.openxmlformats.org/drawingml/2006/main">
            <a:off x="609600" y="20955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68575"/>
                </a:solidFill>
                <a:latin typeface="Arial"/>
                <a:ea typeface="Arial"/>
                <a:cs typeface="Arial"/>
              </a:defRPr>
            </a:defPPr>
          </a:lstStyle>
          <a:p xmlns:a="http://schemas.openxmlformats.org/drawingml/2006/main">
            <a:pPr>
              <a:defRPr sz="2625" b="1">
                <a:solidFill>
                  <a:srgbClr val="168575"/>
                </a:solidFill>
                <a:latin typeface="Arial"/>
                <a:ea typeface="Arial"/>
                <a:cs typeface="Arial"/>
              </a:defRPr>
            </a:pPr>
            <a:r>
              <a:rPr sz="2625" b="1">
                <a:solidFill>
                  <a:srgbClr val="168575"/>
                </a:solidFill>
                <a:latin typeface="Arial"/>
                <a:ea typeface="Arial"/>
                <a:cs typeface="Arial"/>
              </a:rPr>
              <a:t>Engineering limits</a:t>
            </a:r>
          </a:p>
        </p:txBody>
      </p:sp>
      <p:sp>
        <p:nvSpPr>
          <p:cNvPr id="5" name="Simulated FD001 only. No real-fleet vali">
            <a:extLst xmlns:a="http://schemas.openxmlformats.org/drawingml/2006/main">
              <a:ext uri="{FF2B5EF4-FFF2-40B4-BE49-F238E27FC236}">
                <a16:creationId xmlns:a16="http://schemas.microsoft.com/office/drawing/2014/main" id="{340DF4AD-CFF0-4DE2-81F2-8F59F441D537}"/>
              </a:ext>
            </a:extLst>
          </p:cNvPr>
          <p:cNvSpPr>
            <a:spLocks xmlns:a="http://schemas.openxmlformats.org/drawingml/2006/main" noGrp="1"/>
          </p:cNvSpPr>
          <p:nvPr/>
        </p:nvSpPr>
        <p:spPr>
          <a:xfrm xmlns:a="http://schemas.openxmlformats.org/drawingml/2006/main">
            <a:off x="609600" y="2781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Simulated FD001 only. No real-fleet validation or calibrated RUL interval.</a:t>
            </a:r>
          </a:p>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Optimistic errors remain important even when average targets are met.</a:t>
            </a:r>
          </a:p>
        </p:txBody>
      </p:sp>
      <p:sp>
        <p:nvSpPr>
          <p:cNvPr id="6" name="Substantial AI assistance">
            <a:extLst xmlns:a="http://schemas.openxmlformats.org/drawingml/2006/main">
              <a:ext uri="{FF2B5EF4-FFF2-40B4-BE49-F238E27FC236}">
                <a16:creationId xmlns:a16="http://schemas.microsoft.com/office/drawing/2014/main" id="{5C931173-4FE2-48F6-9C3D-FA4EA9E6EB53}"/>
              </a:ext>
            </a:extLst>
          </p:cNvPr>
          <p:cNvSpPr>
            <a:spLocks xmlns:a="http://schemas.openxmlformats.org/drawingml/2006/main" noGrp="1"/>
          </p:cNvSpPr>
          <p:nvPr/>
        </p:nvSpPr>
        <p:spPr>
          <a:xfrm xmlns:a="http://schemas.openxmlformats.org/drawingml/2006/main">
            <a:off x="609600" y="4238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463A6"/>
                </a:solidFill>
                <a:latin typeface="Arial"/>
                <a:ea typeface="Arial"/>
                <a:cs typeface="Arial"/>
              </a:defRPr>
            </a:defPPr>
          </a:lstStyle>
          <a:p xmlns:a="http://schemas.openxmlformats.org/drawingml/2006/main">
            <a:pPr>
              <a:defRPr sz="2625" b="1">
                <a:solidFill>
                  <a:srgbClr val="2463A6"/>
                </a:solidFill>
                <a:latin typeface="Arial"/>
                <a:ea typeface="Arial"/>
                <a:cs typeface="Arial"/>
              </a:defRPr>
            </a:pPr>
            <a:r>
              <a:rPr sz="2625" b="1">
                <a:solidFill>
                  <a:srgbClr val="2463A6"/>
                </a:solidFill>
                <a:latin typeface="Arial"/>
                <a:ea typeface="Arial"/>
                <a:cs typeface="Arial"/>
              </a:rPr>
              <a:t>Substantial AI assistance</a:t>
            </a:r>
          </a:p>
        </p:txBody>
      </p:sp>
      <p:sp>
        <p:nvSpPr>
          <p:cNvPr id="7" name="Codex assisted with design, code, tests ">
            <a:extLst xmlns:a="http://schemas.openxmlformats.org/drawingml/2006/main">
              <a:ext uri="{FF2B5EF4-FFF2-40B4-BE49-F238E27FC236}">
                <a16:creationId xmlns:a16="http://schemas.microsoft.com/office/drawing/2014/main" id="{24343A35-5C9D-417D-BE57-F2C4F660433A}"/>
              </a:ext>
            </a:extLst>
          </p:cNvPr>
          <p:cNvSpPr>
            <a:spLocks xmlns:a="http://schemas.openxmlformats.org/drawingml/2006/main" noGrp="1"/>
          </p:cNvSpPr>
          <p:nvPr/>
        </p:nvSpPr>
        <p:spPr>
          <a:xfrm xmlns:a="http://schemas.openxmlformats.org/drawingml/2006/main">
            <a:off x="609600" y="49244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23345"/>
                </a:solidFill>
                <a:latin typeface="Arial"/>
                <a:ea typeface="Arial"/>
                <a:cs typeface="Arial"/>
              </a:defRPr>
            </a:defPPr>
          </a:lstStyle>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Codex assisted with design, code, tests and written materials.</a:t>
            </a:r>
          </a:p>
          <a:p xmlns:a="http://schemas.openxmlformats.org/drawingml/2006/main">
            <a:pPr>
              <a:defRPr sz="2100" b="0">
                <a:solidFill>
                  <a:srgbClr val="223345"/>
                </a:solidFill>
                <a:latin typeface="Arial"/>
                <a:ea typeface="Arial"/>
                <a:cs typeface="Arial"/>
              </a:defRPr>
            </a:pPr>
            <a:r>
              <a:rPr sz="2100" b="0">
                <a:solidFill>
                  <a:srgbClr val="223345"/>
                </a:solidFill>
                <a:latin typeface="Arial"/>
                <a:ea typeface="Arial"/>
                <a:cs typeface="Arial"/>
              </a:rPr>
              <a:t>The student owns verification, interpretation and the oral defense.</a:t>
            </a:r>
          </a:p>
        </p:txBody>
      </p:sp>
    </p:spTree>
    <p:extLst>
      <p:ext uri="{BB962C8B-B14F-4D97-AF65-F5344CB8AC3E}">
        <p14:creationId xmlns:p14="http://schemas.microsoft.com/office/powerpoint/2010/main" val="17300146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2026-10-16T17:52:41.8750000Z</dcterms:created>
  <dcterms:modified xsi:type="dcterms:W3CDTF">2026-10-16T17:52:41.8760000Z</dcterms:modified>
</coreProperties>
</file>